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9"/>
  </p:handoutMasterIdLst>
  <p:sldIdLst>
    <p:sldId id="262" r:id="rId2"/>
    <p:sldId id="268" r:id="rId3"/>
    <p:sldId id="275" r:id="rId4"/>
    <p:sldId id="270" r:id="rId5"/>
    <p:sldId id="276" r:id="rId6"/>
    <p:sldId id="277"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F0D9"/>
    <a:srgbClr val="005A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58"/>
  </p:normalViewPr>
  <p:slideViewPr>
    <p:cSldViewPr snapToGrid="0">
      <p:cViewPr varScale="1">
        <p:scale>
          <a:sx n="101" d="100"/>
          <a:sy n="101" d="100"/>
        </p:scale>
        <p:origin x="252" y="68"/>
      </p:cViewPr>
      <p:guideLst/>
    </p:cSldViewPr>
  </p:slideViewPr>
  <p:notesTextViewPr>
    <p:cViewPr>
      <p:scale>
        <a:sx n="1" d="1"/>
        <a:sy n="1" d="1"/>
      </p:scale>
      <p:origin x="0" y="0"/>
    </p:cViewPr>
  </p:notesTextViewPr>
  <p:notesViewPr>
    <p:cSldViewPr snapToGrid="0">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A1C542-D91E-9005-AC44-3CEF088E73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5494211-0049-0F88-23E8-3033F5787E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61F35B-5A85-4588-9AA9-A3035B93CC37}" type="datetimeFigureOut">
              <a:rPr lang="en-ID" smtClean="0"/>
              <a:t>08/04/2026</a:t>
            </a:fld>
            <a:endParaRPr lang="en-ID"/>
          </a:p>
        </p:txBody>
      </p:sp>
      <p:sp>
        <p:nvSpPr>
          <p:cNvPr id="4" name="Footer Placeholder 3">
            <a:extLst>
              <a:ext uri="{FF2B5EF4-FFF2-40B4-BE49-F238E27FC236}">
                <a16:creationId xmlns:a16="http://schemas.microsoft.com/office/drawing/2014/main" id="{F754DD8D-FAB4-6488-A413-AC45931FBC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675CE700-3614-28AF-AEB7-F0412751DF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7727C0-A1E1-4E5A-982E-5B27D8EC7CC2}" type="slidenum">
              <a:rPr lang="en-ID" smtClean="0"/>
              <a:t>‹#›</a:t>
            </a:fld>
            <a:endParaRPr lang="en-ID"/>
          </a:p>
        </p:txBody>
      </p:sp>
    </p:spTree>
    <p:extLst>
      <p:ext uri="{BB962C8B-B14F-4D97-AF65-F5344CB8AC3E}">
        <p14:creationId xmlns:p14="http://schemas.microsoft.com/office/powerpoint/2010/main" val="159079992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296A7-5D42-09BE-1062-2BDA98ED6018}"/>
              </a:ext>
            </a:extLst>
          </p:cNvPr>
          <p:cNvSpPr>
            <a:spLocks noGrp="1"/>
          </p:cNvSpPr>
          <p:nvPr>
            <p:ph type="title" hasCustomPrompt="1"/>
          </p:nvPr>
        </p:nvSpPr>
        <p:spPr>
          <a:xfrm>
            <a:off x="503723" y="2521526"/>
            <a:ext cx="6669964" cy="2888674"/>
          </a:xfrm>
          <a:prstGeom prst="rect">
            <a:avLst/>
          </a:prstGeom>
        </p:spPr>
        <p:txBody>
          <a:bodyPr>
            <a:normAutofit/>
          </a:bodyPr>
          <a:lstStyle>
            <a:lvl1pPr>
              <a:defRPr sz="3600" baseline="0">
                <a:latin typeface="Calibri" panose="020F050202020403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spc="-150" dirty="0" err="1">
                <a:latin typeface="Montserrat" pitchFamily="2" charset="0"/>
                <a:cs typeface="Calibri" panose="020F0502020204030204" pitchFamily="34" charset="0"/>
              </a:rPr>
              <a:t>Judul</a:t>
            </a:r>
            <a:br>
              <a:rPr lang="en-US" sz="4400" b="1" spc="-150" dirty="0">
                <a:latin typeface="Montserrat" pitchFamily="2" charset="0"/>
                <a:cs typeface="Calibri" panose="020F0502020204030204" pitchFamily="34" charset="0"/>
              </a:rPr>
            </a:br>
            <a:r>
              <a:rPr lang="en-US" sz="4400" b="1" spc="-150" dirty="0" err="1">
                <a:latin typeface="Montserrat" pitchFamily="2" charset="0"/>
                <a:cs typeface="Calibri" panose="020F0502020204030204" pitchFamily="34" charset="0"/>
              </a:rPr>
              <a:t>Presentasi</a:t>
            </a:r>
            <a:endParaRPr lang="en-US" dirty="0"/>
          </a:p>
        </p:txBody>
      </p:sp>
    </p:spTree>
    <p:extLst>
      <p:ext uri="{BB962C8B-B14F-4D97-AF65-F5344CB8AC3E}">
        <p14:creationId xmlns:p14="http://schemas.microsoft.com/office/powerpoint/2010/main" val="3338047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si Presentasi">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02496-EBCC-37DD-1311-B96EAF3E42AF}"/>
              </a:ext>
            </a:extLst>
          </p:cNvPr>
          <p:cNvSpPr>
            <a:spLocks noGrp="1"/>
          </p:cNvSpPr>
          <p:nvPr>
            <p:ph type="title" hasCustomPrompt="1"/>
          </p:nvPr>
        </p:nvSpPr>
        <p:spPr>
          <a:xfrm>
            <a:off x="3878293" y="300840"/>
            <a:ext cx="9201751" cy="760394"/>
          </a:xfrm>
          <a:prstGeom prst="rect">
            <a:avLst/>
          </a:prstGeom>
        </p:spPr>
        <p:txBody>
          <a:bodyPr>
            <a:normAutofit/>
          </a:bodyPr>
          <a:lstStyle>
            <a:lvl1pPr>
              <a:defRPr sz="3200" baseline="0">
                <a:latin typeface="Calibri" panose="020F050202020403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400" b="1" spc="-150" dirty="0">
                <a:latin typeface="Montserrat" pitchFamily="2" charset="0"/>
                <a:cs typeface="Calibri" panose="020F0502020204030204" pitchFamily="34" charset="0"/>
              </a:rPr>
              <a:t>Text Headline</a:t>
            </a:r>
            <a:endParaRPr lang="en-US" dirty="0"/>
          </a:p>
        </p:txBody>
      </p:sp>
      <p:sp>
        <p:nvSpPr>
          <p:cNvPr id="3" name="Content Placeholder 2">
            <a:extLst>
              <a:ext uri="{FF2B5EF4-FFF2-40B4-BE49-F238E27FC236}">
                <a16:creationId xmlns:a16="http://schemas.microsoft.com/office/drawing/2014/main" id="{48D339C4-CB77-A558-C32F-0B82F368905F}"/>
              </a:ext>
            </a:extLst>
          </p:cNvPr>
          <p:cNvSpPr>
            <a:spLocks noGrp="1"/>
          </p:cNvSpPr>
          <p:nvPr>
            <p:ph idx="1"/>
          </p:nvPr>
        </p:nvSpPr>
        <p:spPr>
          <a:xfrm>
            <a:off x="336884" y="1480457"/>
            <a:ext cx="11502189" cy="4582886"/>
          </a:xfrm>
          <a:prstGeom prst="rect">
            <a:avLst/>
          </a:prstGeom>
        </p:spPr>
        <p:txBody>
          <a:bodyPr/>
          <a:lstStyle>
            <a:lvl1pPr marL="0" indent="0">
              <a:buFontTx/>
              <a:buNone/>
              <a:defRPr sz="2000" baseline="0">
                <a:latin typeface="Calibri" panose="020F0502020204030204" pitchFamily="34" charset="0"/>
              </a:defRPr>
            </a:lvl1pPr>
          </a:lstStyle>
          <a:p>
            <a:pPr lvl="0"/>
            <a:r>
              <a:rPr lang="en-US" dirty="0"/>
              <a:t>Click to edit Master text styles</a:t>
            </a:r>
          </a:p>
        </p:txBody>
      </p:sp>
    </p:spTree>
    <p:extLst>
      <p:ext uri="{BB962C8B-B14F-4D97-AF65-F5344CB8AC3E}">
        <p14:creationId xmlns:p14="http://schemas.microsoft.com/office/powerpoint/2010/main" val="4100685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nutu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61236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9263914"/>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E121B9-3BB2-808C-1856-CC06B583F8EE}"/>
              </a:ext>
            </a:extLst>
          </p:cNvPr>
          <p:cNvSpPr txBox="1"/>
          <p:nvPr/>
        </p:nvSpPr>
        <p:spPr>
          <a:xfrm>
            <a:off x="318088" y="2620976"/>
            <a:ext cx="9254734" cy="1754326"/>
          </a:xfrm>
          <a:prstGeom prst="rect">
            <a:avLst/>
          </a:prstGeom>
          <a:noFill/>
        </p:spPr>
        <p:txBody>
          <a:bodyPr wrap="square" rtlCol="0">
            <a:spAutoFit/>
          </a:bodyPr>
          <a:lstStyle/>
          <a:p>
            <a:r>
              <a:rPr lang="en-US" sz="3600" b="1" dirty="0" err="1">
                <a:effectLst>
                  <a:outerShdw blurRad="38100" dist="38100" dir="2700000" algn="tl">
                    <a:srgbClr val="000000">
                      <a:alpha val="43137"/>
                    </a:srgbClr>
                  </a:outerShdw>
                </a:effectLst>
              </a:rPr>
              <a:t>Meningkatkan</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Kelengkapan</a:t>
            </a:r>
            <a:r>
              <a:rPr lang="en-US" sz="3600" b="1" dirty="0">
                <a:effectLst>
                  <a:outerShdw blurRad="38100" dist="38100" dir="2700000" algn="tl">
                    <a:srgbClr val="000000">
                      <a:alpha val="43137"/>
                    </a:srgbClr>
                  </a:outerShdw>
                </a:effectLst>
              </a:rPr>
              <a:t> Data </a:t>
            </a:r>
            <a:r>
              <a:rPr lang="en-US" sz="3600" b="1" dirty="0" err="1">
                <a:effectLst>
                  <a:outerShdw blurRad="38100" dist="38100" dir="2700000" algn="tl">
                    <a:srgbClr val="000000">
                      <a:alpha val="43137"/>
                    </a:srgbClr>
                  </a:outerShdw>
                </a:effectLst>
              </a:rPr>
              <a:t>Geospasial</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Petani</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Pemasok</a:t>
            </a:r>
            <a:r>
              <a:rPr lang="en-US" sz="3600" b="1" dirty="0">
                <a:effectLst>
                  <a:outerShdw blurRad="38100" dist="38100" dir="2700000" algn="tl">
                    <a:srgbClr val="000000">
                      <a:alpha val="43137"/>
                    </a:srgbClr>
                  </a:outerShdw>
                </a:effectLst>
              </a:rPr>
              <a:t> Kelapa </a:t>
            </a:r>
            <a:r>
              <a:rPr lang="en-US" sz="3600" b="1" dirty="0" err="1">
                <a:effectLst>
                  <a:outerShdw blurRad="38100" dist="38100" dir="2700000" algn="tl">
                    <a:srgbClr val="000000">
                      <a:alpha val="43137"/>
                    </a:srgbClr>
                  </a:outerShdw>
                </a:effectLst>
              </a:rPr>
              <a:t>Sawit</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untuk</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Memenuhi</a:t>
            </a:r>
            <a:r>
              <a:rPr lang="en-US" sz="3600" b="1" dirty="0">
                <a:effectLst>
                  <a:outerShdw blurRad="38100" dist="38100" dir="2700000" algn="tl">
                    <a:srgbClr val="000000">
                      <a:alpha val="43137"/>
                    </a:srgbClr>
                  </a:outerShdw>
                </a:effectLst>
              </a:rPr>
              <a:t> </a:t>
            </a:r>
            <a:r>
              <a:rPr lang="en-US" sz="3600" b="1" dirty="0" err="1">
                <a:effectLst>
                  <a:outerShdw blurRad="38100" dist="38100" dir="2700000" algn="tl">
                    <a:srgbClr val="000000">
                      <a:alpha val="43137"/>
                    </a:srgbClr>
                  </a:outerShdw>
                </a:effectLst>
              </a:rPr>
              <a:t>Standar</a:t>
            </a:r>
            <a:r>
              <a:rPr lang="en-US" sz="3600" b="1" dirty="0">
                <a:effectLst>
                  <a:outerShdw blurRad="38100" dist="38100" dir="2700000" algn="tl">
                    <a:srgbClr val="000000">
                      <a:alpha val="43137"/>
                    </a:srgbClr>
                  </a:outerShdw>
                </a:effectLst>
              </a:rPr>
              <a:t> EUDR di PT. AAPA</a:t>
            </a:r>
            <a:endParaRPr lang="en-US" sz="3600"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70394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C42B0D-A49E-4494-2844-6E806755AE4B}"/>
              </a:ext>
            </a:extLst>
          </p:cNvPr>
          <p:cNvSpPr>
            <a:spLocks noGrp="1"/>
          </p:cNvSpPr>
          <p:nvPr>
            <p:ph type="title"/>
          </p:nvPr>
        </p:nvSpPr>
        <p:spPr>
          <a:xfrm>
            <a:off x="3878293" y="300840"/>
            <a:ext cx="8214969" cy="760394"/>
          </a:xfrm>
        </p:spPr>
        <p:txBody>
          <a:bodyPr/>
          <a:lstStyle/>
          <a:p>
            <a:r>
              <a:rPr lang="en-US" dirty="0" err="1"/>
              <a:t>Profil</a:t>
            </a:r>
            <a:r>
              <a:rPr lang="en-US" dirty="0"/>
              <a:t> Perusahaan PT. </a:t>
            </a:r>
            <a:r>
              <a:rPr lang="en-US" dirty="0" err="1"/>
              <a:t>Triputra</a:t>
            </a:r>
            <a:r>
              <a:rPr lang="en-US" dirty="0"/>
              <a:t> </a:t>
            </a:r>
            <a:r>
              <a:rPr lang="en-US" dirty="0" err="1"/>
              <a:t>Agro</a:t>
            </a:r>
            <a:r>
              <a:rPr lang="en-US" dirty="0"/>
              <a:t> </a:t>
            </a:r>
            <a:r>
              <a:rPr lang="en-US" dirty="0" err="1"/>
              <a:t>Persada</a:t>
            </a:r>
            <a:r>
              <a:rPr lang="en-US" dirty="0"/>
              <a:t>, </a:t>
            </a:r>
            <a:r>
              <a:rPr lang="en-US" dirty="0" err="1"/>
              <a:t>Tbk</a:t>
            </a:r>
            <a:endParaRPr lang="en-US" dirty="0"/>
          </a:p>
        </p:txBody>
      </p:sp>
      <p:sp>
        <p:nvSpPr>
          <p:cNvPr id="59" name="Freeform: Shape 58">
            <a:extLst>
              <a:ext uri="{FF2B5EF4-FFF2-40B4-BE49-F238E27FC236}">
                <a16:creationId xmlns:a16="http://schemas.microsoft.com/office/drawing/2014/main" id="{0D1E4732-8A6C-6156-A6F6-292864F30D35}"/>
              </a:ext>
            </a:extLst>
          </p:cNvPr>
          <p:cNvSpPr/>
          <p:nvPr/>
        </p:nvSpPr>
        <p:spPr>
          <a:xfrm>
            <a:off x="9374634" y="1911673"/>
            <a:ext cx="2704035" cy="346870"/>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515938" lvl="0" algn="ctr" defTabSz="622300">
              <a:lnSpc>
                <a:spcPct val="90000"/>
              </a:lnSpc>
              <a:spcBef>
                <a:spcPct val="0"/>
              </a:spcBef>
              <a:spcAft>
                <a:spcPct val="35000"/>
              </a:spcAft>
            </a:pPr>
            <a:r>
              <a:rPr lang="en-US" sz="1500" b="1" kern="1200" dirty="0"/>
              <a:t>Jambi</a:t>
            </a:r>
            <a:endParaRPr lang="en-ID" sz="1500" b="1" kern="1200" dirty="0"/>
          </a:p>
        </p:txBody>
      </p:sp>
      <p:sp>
        <p:nvSpPr>
          <p:cNvPr id="60" name="Freeform: Shape 59">
            <a:extLst>
              <a:ext uri="{FF2B5EF4-FFF2-40B4-BE49-F238E27FC236}">
                <a16:creationId xmlns:a16="http://schemas.microsoft.com/office/drawing/2014/main" id="{93932919-510E-BFB7-837C-BF460BC46AF1}"/>
              </a:ext>
            </a:extLst>
          </p:cNvPr>
          <p:cNvSpPr/>
          <p:nvPr/>
        </p:nvSpPr>
        <p:spPr>
          <a:xfrm>
            <a:off x="9358410" y="4983666"/>
            <a:ext cx="2734851" cy="865339"/>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80431" fontAlgn="auto">
              <a:spcBef>
                <a:spcPts val="0"/>
              </a:spcBef>
              <a:spcAft>
                <a:spcPts val="0"/>
              </a:spcAft>
              <a:defRPr/>
            </a:pPr>
            <a:endParaRPr lang="en-US" sz="1400" b="1" dirty="0">
              <a:solidFill>
                <a:srgbClr val="000000"/>
              </a:solidFill>
              <a:latin typeface="Calibri"/>
            </a:endParaRPr>
          </a:p>
          <a:p>
            <a:pPr marL="80431" fontAlgn="auto">
              <a:spcBef>
                <a:spcPts val="0"/>
              </a:spcBef>
              <a:spcAft>
                <a:spcPts val="0"/>
              </a:spcAft>
              <a:defRPr/>
            </a:pPr>
            <a:r>
              <a:rPr lang="en-US" sz="1400" b="1" dirty="0">
                <a:solidFill>
                  <a:srgbClr val="000000"/>
                </a:solidFill>
                <a:latin typeface="Calibri"/>
              </a:rPr>
              <a:t>Head Office</a:t>
            </a:r>
          </a:p>
          <a:p>
            <a:pPr marL="80431" fontAlgn="auto">
              <a:spcBef>
                <a:spcPts val="0"/>
              </a:spcBef>
              <a:spcAft>
                <a:spcPts val="0"/>
              </a:spcAft>
              <a:defRPr/>
            </a:pPr>
            <a:r>
              <a:rPr lang="en-US" sz="1200" dirty="0">
                <a:solidFill>
                  <a:srgbClr val="000000"/>
                </a:solidFill>
                <a:latin typeface="Calibri"/>
                <a:cs typeface="+mn-cs"/>
              </a:rPr>
              <a:t>The East Building 23</a:t>
            </a:r>
            <a:r>
              <a:rPr lang="en-US" sz="1200" baseline="30000" dirty="0">
                <a:solidFill>
                  <a:srgbClr val="000000"/>
                </a:solidFill>
                <a:latin typeface="Calibri"/>
                <a:cs typeface="+mn-cs"/>
              </a:rPr>
              <a:t>th</a:t>
            </a:r>
            <a:r>
              <a:rPr lang="en-US" sz="1200" dirty="0">
                <a:solidFill>
                  <a:srgbClr val="000000"/>
                </a:solidFill>
                <a:latin typeface="Calibri"/>
                <a:cs typeface="+mn-cs"/>
              </a:rPr>
              <a:t> Floor</a:t>
            </a:r>
          </a:p>
          <a:p>
            <a:pPr marL="80431" fontAlgn="auto">
              <a:spcBef>
                <a:spcPts val="0"/>
              </a:spcBef>
              <a:spcAft>
                <a:spcPts val="0"/>
              </a:spcAft>
              <a:defRPr/>
            </a:pPr>
            <a:r>
              <a:rPr lang="en-US" sz="1200" dirty="0">
                <a:solidFill>
                  <a:srgbClr val="000000"/>
                </a:solidFill>
                <a:latin typeface="Calibri"/>
                <a:cs typeface="+mn-cs"/>
              </a:rPr>
              <a:t>Jalan </a:t>
            </a:r>
            <a:r>
              <a:rPr lang="en-US" sz="1200" dirty="0" err="1">
                <a:solidFill>
                  <a:srgbClr val="000000"/>
                </a:solidFill>
                <a:latin typeface="Calibri"/>
                <a:cs typeface="+mn-cs"/>
              </a:rPr>
              <a:t>Lingkar</a:t>
            </a:r>
            <a:r>
              <a:rPr lang="en-US" sz="1200" dirty="0">
                <a:solidFill>
                  <a:srgbClr val="000000"/>
                </a:solidFill>
                <a:latin typeface="Calibri"/>
                <a:cs typeface="+mn-cs"/>
              </a:rPr>
              <a:t> Mega </a:t>
            </a:r>
            <a:r>
              <a:rPr lang="en-US" sz="1200" dirty="0" err="1">
                <a:solidFill>
                  <a:srgbClr val="000000"/>
                </a:solidFill>
                <a:latin typeface="Calibri"/>
                <a:cs typeface="+mn-cs"/>
              </a:rPr>
              <a:t>Kuningan</a:t>
            </a:r>
            <a:r>
              <a:rPr lang="en-US" sz="1200" dirty="0">
                <a:solidFill>
                  <a:srgbClr val="000000"/>
                </a:solidFill>
                <a:latin typeface="Calibri"/>
                <a:cs typeface="+mn-cs"/>
              </a:rPr>
              <a:t> </a:t>
            </a:r>
            <a:r>
              <a:rPr lang="en-US" sz="1200" dirty="0" err="1">
                <a:solidFill>
                  <a:srgbClr val="000000"/>
                </a:solidFill>
                <a:latin typeface="Calibri"/>
                <a:cs typeface="+mn-cs"/>
              </a:rPr>
              <a:t>Kav</a:t>
            </a:r>
            <a:r>
              <a:rPr lang="en-US" sz="1200" dirty="0">
                <a:solidFill>
                  <a:srgbClr val="000000"/>
                </a:solidFill>
                <a:latin typeface="Calibri"/>
                <a:cs typeface="+mn-cs"/>
              </a:rPr>
              <a:t> E.3.2 No. 1, Jakarta Selatan 12950.</a:t>
            </a:r>
          </a:p>
          <a:p>
            <a:pPr marL="0" lvl="1" algn="l" defTabSz="800100">
              <a:lnSpc>
                <a:spcPct val="90000"/>
              </a:lnSpc>
              <a:spcBef>
                <a:spcPct val="0"/>
              </a:spcBef>
              <a:spcAft>
                <a:spcPct val="15000"/>
              </a:spcAft>
            </a:pPr>
            <a:endParaRPr lang="en-ID" sz="1400" kern="1200" dirty="0"/>
          </a:p>
        </p:txBody>
      </p:sp>
      <p:sp>
        <p:nvSpPr>
          <p:cNvPr id="61" name="Freeform: Shape 60">
            <a:extLst>
              <a:ext uri="{FF2B5EF4-FFF2-40B4-BE49-F238E27FC236}">
                <a16:creationId xmlns:a16="http://schemas.microsoft.com/office/drawing/2014/main" id="{840204E5-D140-9404-8664-CC0C18ECA4FC}"/>
              </a:ext>
            </a:extLst>
          </p:cNvPr>
          <p:cNvSpPr/>
          <p:nvPr/>
        </p:nvSpPr>
        <p:spPr>
          <a:xfrm>
            <a:off x="9354266" y="5855775"/>
            <a:ext cx="2734851" cy="351864"/>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0" lvl="0" indent="0" algn="ctr" defTabSz="622300">
              <a:lnSpc>
                <a:spcPct val="90000"/>
              </a:lnSpc>
              <a:spcBef>
                <a:spcPct val="0"/>
              </a:spcBef>
              <a:spcAft>
                <a:spcPct val="35000"/>
              </a:spcAft>
              <a:buNone/>
            </a:pPr>
            <a:r>
              <a:rPr lang="en-US" sz="1500" b="1" dirty="0"/>
              <a:t>     Jakarta</a:t>
            </a:r>
            <a:endParaRPr lang="en-ID" sz="1500" b="1" kern="1200" dirty="0"/>
          </a:p>
        </p:txBody>
      </p:sp>
      <p:sp>
        <p:nvSpPr>
          <p:cNvPr id="62" name="Freeform: Shape 61">
            <a:extLst>
              <a:ext uri="{FF2B5EF4-FFF2-40B4-BE49-F238E27FC236}">
                <a16:creationId xmlns:a16="http://schemas.microsoft.com/office/drawing/2014/main" id="{6AFC1A22-A928-384C-97B9-A1A4CFCF8669}"/>
              </a:ext>
            </a:extLst>
          </p:cNvPr>
          <p:cNvSpPr/>
          <p:nvPr/>
        </p:nvSpPr>
        <p:spPr>
          <a:xfrm>
            <a:off x="9338858" y="3701523"/>
            <a:ext cx="2734852" cy="903350"/>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396875" lvl="1" algn="ctr" defTabSz="800100">
              <a:lnSpc>
                <a:spcPct val="90000"/>
              </a:lnSpc>
              <a:spcBef>
                <a:spcPct val="0"/>
              </a:spcBef>
              <a:spcAft>
                <a:spcPct val="15000"/>
              </a:spcAft>
            </a:pPr>
            <a:r>
              <a:rPr lang="en-US" dirty="0"/>
              <a:t>5</a:t>
            </a:r>
            <a:r>
              <a:rPr lang="en-US" kern="1200" dirty="0"/>
              <a:t> Estates </a:t>
            </a:r>
            <a:endParaRPr lang="en-ID" kern="1200" dirty="0"/>
          </a:p>
          <a:p>
            <a:pPr marL="396875" lvl="1" algn="ctr" defTabSz="800100">
              <a:lnSpc>
                <a:spcPct val="90000"/>
              </a:lnSpc>
              <a:spcBef>
                <a:spcPct val="0"/>
              </a:spcBef>
              <a:spcAft>
                <a:spcPct val="15000"/>
              </a:spcAft>
            </a:pPr>
            <a:r>
              <a:rPr lang="en-US" dirty="0"/>
              <a:t>4</a:t>
            </a:r>
            <a:r>
              <a:rPr lang="en-US" kern="1200" dirty="0"/>
              <a:t> CPO Mills</a:t>
            </a:r>
          </a:p>
          <a:p>
            <a:pPr marL="396875" lvl="1" algn="ctr" defTabSz="800100">
              <a:lnSpc>
                <a:spcPct val="90000"/>
              </a:lnSpc>
              <a:spcBef>
                <a:spcPct val="0"/>
              </a:spcBef>
              <a:spcAft>
                <a:spcPct val="15000"/>
              </a:spcAft>
            </a:pPr>
            <a:r>
              <a:rPr lang="en-US" dirty="0"/>
              <a:t>1 Biogas Plant</a:t>
            </a:r>
            <a:endParaRPr lang="en-ID" kern="1200" dirty="0"/>
          </a:p>
        </p:txBody>
      </p:sp>
      <p:sp>
        <p:nvSpPr>
          <p:cNvPr id="63" name="Freeform: Shape 62">
            <a:extLst>
              <a:ext uri="{FF2B5EF4-FFF2-40B4-BE49-F238E27FC236}">
                <a16:creationId xmlns:a16="http://schemas.microsoft.com/office/drawing/2014/main" id="{22BD85BA-E0EE-0727-58E3-710FC9456BC3}"/>
              </a:ext>
            </a:extLst>
          </p:cNvPr>
          <p:cNvSpPr/>
          <p:nvPr/>
        </p:nvSpPr>
        <p:spPr>
          <a:xfrm>
            <a:off x="9363369" y="3287470"/>
            <a:ext cx="2723589" cy="346870"/>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0" lvl="0" indent="0" algn="ctr" defTabSz="622300">
              <a:lnSpc>
                <a:spcPct val="90000"/>
              </a:lnSpc>
              <a:spcBef>
                <a:spcPct val="0"/>
              </a:spcBef>
              <a:spcAft>
                <a:spcPct val="35000"/>
              </a:spcAft>
            </a:pPr>
            <a:r>
              <a:rPr lang="en-US" sz="1500" b="1" kern="1200" dirty="0"/>
              <a:t>      Kalimantan Timur</a:t>
            </a:r>
            <a:endParaRPr lang="en-ID" sz="1500" b="1" kern="1200" dirty="0"/>
          </a:p>
        </p:txBody>
      </p:sp>
      <p:sp>
        <p:nvSpPr>
          <p:cNvPr id="64" name="Freeform: Shape 63">
            <a:extLst>
              <a:ext uri="{FF2B5EF4-FFF2-40B4-BE49-F238E27FC236}">
                <a16:creationId xmlns:a16="http://schemas.microsoft.com/office/drawing/2014/main" id="{8C0A7FB5-45F1-C2E5-0C3C-A7A90F4B7F2C}"/>
              </a:ext>
            </a:extLst>
          </p:cNvPr>
          <p:cNvSpPr/>
          <p:nvPr/>
        </p:nvSpPr>
        <p:spPr>
          <a:xfrm>
            <a:off x="9354266" y="2349003"/>
            <a:ext cx="2734852" cy="929578"/>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739775" lvl="1" algn="ctr" defTabSz="800100">
              <a:lnSpc>
                <a:spcPct val="90000"/>
              </a:lnSpc>
              <a:spcBef>
                <a:spcPct val="0"/>
              </a:spcBef>
              <a:spcAft>
                <a:spcPct val="15000"/>
              </a:spcAft>
            </a:pPr>
            <a:r>
              <a:rPr lang="en-US" dirty="0"/>
              <a:t>12</a:t>
            </a:r>
            <a:r>
              <a:rPr lang="en-US" kern="1200" dirty="0"/>
              <a:t> Estates </a:t>
            </a:r>
            <a:endParaRPr lang="en-ID" kern="1200" dirty="0"/>
          </a:p>
          <a:p>
            <a:pPr marL="739775" lvl="1" algn="ctr" defTabSz="800100">
              <a:lnSpc>
                <a:spcPct val="90000"/>
              </a:lnSpc>
              <a:spcBef>
                <a:spcPct val="0"/>
              </a:spcBef>
              <a:spcAft>
                <a:spcPct val="15000"/>
              </a:spcAft>
            </a:pPr>
            <a:r>
              <a:rPr lang="en-US" dirty="0"/>
              <a:t>8</a:t>
            </a:r>
            <a:r>
              <a:rPr lang="en-US" kern="1200" dirty="0"/>
              <a:t> CPO Mills</a:t>
            </a:r>
          </a:p>
        </p:txBody>
      </p:sp>
      <p:sp>
        <p:nvSpPr>
          <p:cNvPr id="65" name="Freeform: Shape 64">
            <a:extLst>
              <a:ext uri="{FF2B5EF4-FFF2-40B4-BE49-F238E27FC236}">
                <a16:creationId xmlns:a16="http://schemas.microsoft.com/office/drawing/2014/main" id="{F29D7F72-A7D7-5C28-885C-D48692393F25}"/>
              </a:ext>
            </a:extLst>
          </p:cNvPr>
          <p:cNvSpPr/>
          <p:nvPr/>
        </p:nvSpPr>
        <p:spPr>
          <a:xfrm>
            <a:off x="9338858" y="4573632"/>
            <a:ext cx="2734852" cy="346870"/>
          </a:xfrm>
          <a:custGeom>
            <a:avLst/>
            <a:gdLst>
              <a:gd name="connsiteX0" fmla="*/ 0 w 1276689"/>
              <a:gd name="connsiteY0" fmla="*/ 0 h 409799"/>
              <a:gd name="connsiteX1" fmla="*/ 1276689 w 1276689"/>
              <a:gd name="connsiteY1" fmla="*/ 0 h 409799"/>
              <a:gd name="connsiteX2" fmla="*/ 1276689 w 1276689"/>
              <a:gd name="connsiteY2" fmla="*/ 409799 h 409799"/>
              <a:gd name="connsiteX3" fmla="*/ 0 w 1276689"/>
              <a:gd name="connsiteY3" fmla="*/ 409799 h 409799"/>
              <a:gd name="connsiteX4" fmla="*/ 0 w 1276689"/>
              <a:gd name="connsiteY4" fmla="*/ 0 h 40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689" h="409799">
                <a:moveTo>
                  <a:pt x="0" y="0"/>
                </a:moveTo>
                <a:lnTo>
                  <a:pt x="1276689" y="0"/>
                </a:lnTo>
                <a:lnTo>
                  <a:pt x="1276689" y="409799"/>
                </a:lnTo>
                <a:lnTo>
                  <a:pt x="0" y="409799"/>
                </a:lnTo>
                <a:lnTo>
                  <a:pt x="0" y="0"/>
                </a:lnTo>
                <a:close/>
              </a:path>
            </a:pathLst>
          </a:custGeom>
          <a:solidFill>
            <a:srgbClr val="6BB0B0"/>
          </a:solidFill>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3340" tIns="0" rIns="395392" bIns="0" numCol="1" spcCol="1270" anchor="ctr" anchorCtr="0">
            <a:noAutofit/>
          </a:bodyPr>
          <a:lstStyle/>
          <a:p>
            <a:pPr marL="0" lvl="0" indent="0" algn="ctr" defTabSz="622300">
              <a:lnSpc>
                <a:spcPct val="90000"/>
              </a:lnSpc>
              <a:spcBef>
                <a:spcPct val="0"/>
              </a:spcBef>
              <a:spcAft>
                <a:spcPct val="35000"/>
              </a:spcAft>
            </a:pPr>
            <a:r>
              <a:rPr lang="en-US" sz="2000" b="1" kern="1200" dirty="0"/>
              <a:t>      </a:t>
            </a:r>
            <a:r>
              <a:rPr lang="en-US" sz="1500" b="1" kern="1200" dirty="0"/>
              <a:t>Kalimantan Tengah</a:t>
            </a:r>
            <a:endParaRPr lang="en-ID" sz="1500" b="1" kern="1200" dirty="0"/>
          </a:p>
        </p:txBody>
      </p:sp>
      <p:pic>
        <p:nvPicPr>
          <p:cNvPr id="67" name="Picture 417" descr="icon-tree-palm.gif">
            <a:extLst>
              <a:ext uri="{FF2B5EF4-FFF2-40B4-BE49-F238E27FC236}">
                <a16:creationId xmlns:a16="http://schemas.microsoft.com/office/drawing/2014/main" id="{D08DC7F0-AE0E-E99B-5F64-211B549E97E9}"/>
              </a:ext>
            </a:extLst>
          </p:cNvPr>
          <p:cNvPicPr>
            <a:picLocks noChangeAspect="1"/>
          </p:cNvPicPr>
          <p:nvPr/>
        </p:nvPicPr>
        <p:blipFill>
          <a:blip r:embed="rId2">
            <a:extLst>
              <a:ext uri="{28A0092B-C50C-407E-A947-70E740481C1C}">
                <a14:useLocalDpi xmlns:a14="http://schemas.microsoft.com/office/drawing/2010/main" val="0"/>
              </a:ext>
            </a:extLst>
          </a:blip>
          <a:srcRect l="22977" r="8093"/>
          <a:stretch>
            <a:fillRect/>
          </a:stretch>
        </p:blipFill>
        <p:spPr bwMode="auto">
          <a:xfrm>
            <a:off x="9488463" y="2539585"/>
            <a:ext cx="668378" cy="56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417" descr="icon-tree-palm.gif">
            <a:extLst>
              <a:ext uri="{FF2B5EF4-FFF2-40B4-BE49-F238E27FC236}">
                <a16:creationId xmlns:a16="http://schemas.microsoft.com/office/drawing/2014/main" id="{ADBD89E8-3F7E-65B9-3224-71560B625FD8}"/>
              </a:ext>
            </a:extLst>
          </p:cNvPr>
          <p:cNvPicPr>
            <a:picLocks noChangeAspect="1"/>
          </p:cNvPicPr>
          <p:nvPr/>
        </p:nvPicPr>
        <p:blipFill>
          <a:blip r:embed="rId2">
            <a:extLst>
              <a:ext uri="{28A0092B-C50C-407E-A947-70E740481C1C}">
                <a14:useLocalDpi xmlns:a14="http://schemas.microsoft.com/office/drawing/2010/main" val="0"/>
              </a:ext>
            </a:extLst>
          </a:blip>
          <a:srcRect l="22977" r="8093"/>
          <a:stretch>
            <a:fillRect/>
          </a:stretch>
        </p:blipFill>
        <p:spPr bwMode="auto">
          <a:xfrm>
            <a:off x="9488463" y="3825747"/>
            <a:ext cx="668378" cy="56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2" name="Table 121">
            <a:extLst>
              <a:ext uri="{FF2B5EF4-FFF2-40B4-BE49-F238E27FC236}">
                <a16:creationId xmlns:a16="http://schemas.microsoft.com/office/drawing/2014/main" id="{EFB29C21-FA35-A16C-06F9-C702636D2FA0}"/>
              </a:ext>
            </a:extLst>
          </p:cNvPr>
          <p:cNvGraphicFramePr>
            <a:graphicFrameLocks noGrp="1"/>
          </p:cNvGraphicFramePr>
          <p:nvPr>
            <p:extLst>
              <p:ext uri="{D42A27DB-BD31-4B8C-83A1-F6EECF244321}">
                <p14:modId xmlns:p14="http://schemas.microsoft.com/office/powerpoint/2010/main" val="1688668006"/>
              </p:ext>
            </p:extLst>
          </p:nvPr>
        </p:nvGraphicFramePr>
        <p:xfrm>
          <a:off x="98739" y="4536877"/>
          <a:ext cx="8592584" cy="1670762"/>
        </p:xfrm>
        <a:graphic>
          <a:graphicData uri="http://schemas.openxmlformats.org/drawingml/2006/table">
            <a:tbl>
              <a:tblPr firstRow="1" bandRow="1">
                <a:tableStyleId>{5A111915-BE36-4E01-A7E5-04B1672EAD32}</a:tableStyleId>
              </a:tblPr>
              <a:tblGrid>
                <a:gridCol w="8592584">
                  <a:extLst>
                    <a:ext uri="{9D8B030D-6E8A-4147-A177-3AD203B41FA5}">
                      <a16:colId xmlns:a16="http://schemas.microsoft.com/office/drawing/2014/main" val="576300811"/>
                    </a:ext>
                  </a:extLst>
                </a:gridCol>
              </a:tblGrid>
              <a:tr h="385967">
                <a:tc>
                  <a:txBody>
                    <a:bodyPr/>
                    <a:lstStyle/>
                    <a:p>
                      <a:r>
                        <a:rPr lang="en-US" dirty="0">
                          <a:solidFill>
                            <a:schemeClr val="tx1"/>
                          </a:solidFill>
                        </a:rPr>
                        <a:t>TAP GROUP BERKOMITMEN PADA "PASSION FOR EXCELLENCE"</a:t>
                      </a:r>
                    </a:p>
                  </a:txBody>
                  <a:tcPr>
                    <a:solidFill>
                      <a:srgbClr val="6BB0B0"/>
                    </a:solidFill>
                  </a:tcPr>
                </a:tc>
                <a:extLst>
                  <a:ext uri="{0D108BD9-81ED-4DB2-BD59-A6C34878D82A}">
                    <a16:rowId xmlns:a16="http://schemas.microsoft.com/office/drawing/2014/main" val="358469398"/>
                  </a:ext>
                </a:extLst>
              </a:tr>
              <a:tr h="1284795">
                <a:tc>
                  <a:txBody>
                    <a:bodyPr/>
                    <a:lstStyle/>
                    <a:p>
                      <a:r>
                        <a:rPr lang="en-US" sz="1500" dirty="0"/>
                        <a:t>PT </a:t>
                      </a:r>
                      <a:r>
                        <a:rPr lang="en-US" sz="1500" dirty="0" err="1"/>
                        <a:t>Triputra</a:t>
                      </a:r>
                      <a:r>
                        <a:rPr lang="en-US" sz="1500" dirty="0"/>
                        <a:t> </a:t>
                      </a:r>
                      <a:r>
                        <a:rPr lang="en-US" sz="1500" dirty="0" err="1"/>
                        <a:t>Agro</a:t>
                      </a:r>
                      <a:r>
                        <a:rPr lang="en-US" sz="1500" dirty="0"/>
                        <a:t> </a:t>
                      </a:r>
                      <a:r>
                        <a:rPr lang="en-US" sz="1500" dirty="0" err="1"/>
                        <a:t>Persada</a:t>
                      </a:r>
                      <a:r>
                        <a:rPr lang="en-US" sz="1500" dirty="0"/>
                        <a:t> </a:t>
                      </a:r>
                      <a:r>
                        <a:rPr lang="en-US" sz="1500" dirty="0" err="1"/>
                        <a:t>Tbk</a:t>
                      </a:r>
                      <a:r>
                        <a:rPr lang="en-US" sz="1500" dirty="0"/>
                        <a:t> (TAPG) </a:t>
                      </a:r>
                      <a:r>
                        <a:rPr lang="en-US" sz="1500" dirty="0" err="1"/>
                        <a:t>adalah</a:t>
                      </a:r>
                      <a:r>
                        <a:rPr lang="en-US" sz="1500" dirty="0"/>
                        <a:t> </a:t>
                      </a:r>
                      <a:r>
                        <a:rPr lang="en-US" sz="1500" dirty="0" err="1"/>
                        <a:t>sebuah</a:t>
                      </a:r>
                      <a:r>
                        <a:rPr lang="en-US" sz="1500" dirty="0"/>
                        <a:t> </a:t>
                      </a:r>
                      <a:r>
                        <a:rPr lang="en-US" sz="1500" dirty="0" err="1"/>
                        <a:t>kelompok</a:t>
                      </a:r>
                      <a:r>
                        <a:rPr lang="en-US" sz="1500" dirty="0"/>
                        <a:t> </a:t>
                      </a:r>
                      <a:r>
                        <a:rPr lang="en-US" sz="1500" dirty="0" err="1"/>
                        <a:t>perusahaan</a:t>
                      </a:r>
                      <a:r>
                        <a:rPr lang="en-US" sz="1500" dirty="0"/>
                        <a:t> yang </a:t>
                      </a:r>
                      <a:r>
                        <a:rPr lang="en-US" sz="1500" dirty="0" err="1"/>
                        <a:t>bergerak</a:t>
                      </a:r>
                      <a:r>
                        <a:rPr lang="en-US" sz="1500" dirty="0"/>
                        <a:t> di </a:t>
                      </a:r>
                      <a:r>
                        <a:rPr lang="en-US" sz="1500" dirty="0" err="1"/>
                        <a:t>bidang</a:t>
                      </a:r>
                      <a:r>
                        <a:rPr lang="en-US" sz="1500" dirty="0"/>
                        <a:t> </a:t>
                      </a:r>
                      <a:r>
                        <a:rPr lang="en-US" sz="1500" dirty="0" err="1"/>
                        <a:t>perkebunan</a:t>
                      </a:r>
                      <a:r>
                        <a:rPr lang="en-US" sz="1500" dirty="0"/>
                        <a:t> </a:t>
                      </a:r>
                      <a:r>
                        <a:rPr lang="en-US" sz="1500" dirty="0" err="1"/>
                        <a:t>kelapa</a:t>
                      </a:r>
                      <a:r>
                        <a:rPr lang="en-US" sz="1500" dirty="0"/>
                        <a:t> </a:t>
                      </a:r>
                      <a:r>
                        <a:rPr lang="en-US" sz="1500" dirty="0" err="1"/>
                        <a:t>sawit</a:t>
                      </a:r>
                      <a:r>
                        <a:rPr lang="en-US" sz="1500" dirty="0"/>
                        <a:t> dan </a:t>
                      </a:r>
                      <a:r>
                        <a:rPr lang="en-US" sz="1500" dirty="0" err="1"/>
                        <a:t>industri</a:t>
                      </a:r>
                      <a:r>
                        <a:rPr lang="en-US" sz="1500" dirty="0"/>
                        <a:t> </a:t>
                      </a:r>
                      <a:r>
                        <a:rPr lang="en-US" sz="1500" dirty="0" err="1"/>
                        <a:t>pengolahan</a:t>
                      </a:r>
                      <a:r>
                        <a:rPr lang="en-US" sz="1500" dirty="0"/>
                        <a:t> </a:t>
                      </a:r>
                      <a:r>
                        <a:rPr lang="en-US" sz="1500" dirty="0" err="1"/>
                        <a:t>kelapa</a:t>
                      </a:r>
                      <a:r>
                        <a:rPr lang="en-US" sz="1500" dirty="0"/>
                        <a:t> </a:t>
                      </a:r>
                      <a:r>
                        <a:rPr lang="en-US" sz="1500" dirty="0" err="1"/>
                        <a:t>sawit</a:t>
                      </a:r>
                      <a:r>
                        <a:rPr lang="en-US" sz="1500" dirty="0"/>
                        <a:t>, </a:t>
                      </a:r>
                      <a:r>
                        <a:rPr lang="en-US" sz="1500" dirty="0" err="1"/>
                        <a:t>serta</a:t>
                      </a:r>
                      <a:r>
                        <a:rPr lang="en-US" sz="1500" dirty="0"/>
                        <a:t> </a:t>
                      </a:r>
                      <a:r>
                        <a:rPr lang="en-US" sz="1500" dirty="0" err="1"/>
                        <a:t>perkebunan</a:t>
                      </a:r>
                      <a:r>
                        <a:rPr lang="en-US" sz="1500" dirty="0"/>
                        <a:t> </a:t>
                      </a:r>
                      <a:r>
                        <a:rPr lang="en-US" sz="1500" dirty="0" err="1"/>
                        <a:t>karet</a:t>
                      </a:r>
                      <a:r>
                        <a:rPr lang="en-US" sz="1500" dirty="0"/>
                        <a:t> di Jambi, Kalimantan Tengah, dan Kalimantan Timur. </a:t>
                      </a:r>
                      <a:r>
                        <a:rPr lang="en-US" sz="1500" b="1" dirty="0"/>
                        <a:t>Perusahaan </a:t>
                      </a:r>
                      <a:r>
                        <a:rPr lang="en-US" sz="1500" b="1" dirty="0" err="1"/>
                        <a:t>berkomitmen</a:t>
                      </a:r>
                      <a:r>
                        <a:rPr lang="en-US" sz="1500" b="1" dirty="0"/>
                        <a:t> </a:t>
                      </a:r>
                      <a:r>
                        <a:rPr lang="en-US" sz="1500" b="1" dirty="0" err="1"/>
                        <a:t>untuk</a:t>
                      </a:r>
                      <a:r>
                        <a:rPr lang="en-US" sz="1500" b="1" dirty="0"/>
                        <a:t> </a:t>
                      </a:r>
                      <a:r>
                        <a:rPr lang="en-US" sz="1500" b="1" dirty="0" err="1"/>
                        <a:t>beroperasi</a:t>
                      </a:r>
                      <a:r>
                        <a:rPr lang="en-US" sz="1500" b="1" dirty="0"/>
                        <a:t> </a:t>
                      </a:r>
                      <a:r>
                        <a:rPr lang="en-US" sz="1500" b="1" dirty="0" err="1"/>
                        <a:t>secara</a:t>
                      </a:r>
                      <a:r>
                        <a:rPr lang="en-US" sz="1500" b="1" dirty="0"/>
                        <a:t> </a:t>
                      </a:r>
                      <a:r>
                        <a:rPr lang="en-US" sz="1500" b="1" dirty="0" err="1"/>
                        <a:t>berkelanjutan</a:t>
                      </a:r>
                      <a:r>
                        <a:rPr lang="en-US" sz="1500" b="1" dirty="0"/>
                        <a:t> guna </a:t>
                      </a:r>
                      <a:r>
                        <a:rPr lang="en-US" sz="1500" b="1" dirty="0" err="1"/>
                        <a:t>menghasilkan</a:t>
                      </a:r>
                      <a:r>
                        <a:rPr lang="en-US" sz="1500" b="1" dirty="0"/>
                        <a:t> </a:t>
                      </a:r>
                      <a:r>
                        <a:rPr lang="en-US" sz="1500" b="1" dirty="0" err="1"/>
                        <a:t>minyak</a:t>
                      </a:r>
                      <a:r>
                        <a:rPr lang="en-US" sz="1500" b="1" dirty="0"/>
                        <a:t> </a:t>
                      </a:r>
                      <a:r>
                        <a:rPr lang="en-US" sz="1500" b="1" dirty="0" err="1"/>
                        <a:t>sawit</a:t>
                      </a:r>
                      <a:r>
                        <a:rPr lang="en-US" sz="1500" b="1" dirty="0"/>
                        <a:t> </a:t>
                      </a:r>
                      <a:r>
                        <a:rPr lang="en-US" sz="1500" b="1" dirty="0" err="1"/>
                        <a:t>mentah</a:t>
                      </a:r>
                      <a:r>
                        <a:rPr lang="en-US" sz="1500" b="1" dirty="0"/>
                        <a:t>, inti </a:t>
                      </a:r>
                      <a:r>
                        <a:rPr lang="en-US" sz="1500" b="1" dirty="0" err="1"/>
                        <a:t>sawit</a:t>
                      </a:r>
                      <a:r>
                        <a:rPr lang="en-US" sz="1500" b="1" dirty="0"/>
                        <a:t>, </a:t>
                      </a:r>
                      <a:r>
                        <a:rPr lang="en-US" sz="1500" b="1" dirty="0" err="1"/>
                        <a:t>minyak</a:t>
                      </a:r>
                      <a:r>
                        <a:rPr lang="en-US" sz="1500" b="1" dirty="0"/>
                        <a:t> inti </a:t>
                      </a:r>
                      <a:r>
                        <a:rPr lang="en-US" sz="1500" b="1" dirty="0" err="1"/>
                        <a:t>sawit</a:t>
                      </a:r>
                      <a:r>
                        <a:rPr lang="en-US" sz="1500" b="1" dirty="0"/>
                        <a:t> </a:t>
                      </a:r>
                      <a:r>
                        <a:rPr lang="en-US" sz="1500" b="1" dirty="0" err="1"/>
                        <a:t>mentah</a:t>
                      </a:r>
                      <a:r>
                        <a:rPr lang="en-US" sz="1500" b="1" dirty="0"/>
                        <a:t>, dan </a:t>
                      </a:r>
                      <a:r>
                        <a:rPr lang="en-US" sz="1500" b="1" dirty="0" err="1"/>
                        <a:t>bungkil</a:t>
                      </a:r>
                      <a:r>
                        <a:rPr lang="en-US" sz="1500" b="1" dirty="0"/>
                        <a:t> inti </a:t>
                      </a:r>
                      <a:r>
                        <a:rPr lang="en-US" sz="1500" b="1" dirty="0" err="1"/>
                        <a:t>sawit</a:t>
                      </a:r>
                      <a:r>
                        <a:rPr lang="en-US" sz="1500" b="1" dirty="0"/>
                        <a:t> </a:t>
                      </a:r>
                      <a:r>
                        <a:rPr lang="en-US" sz="1500" b="1" dirty="0" err="1"/>
                        <a:t>berkualitas</a:t>
                      </a:r>
                      <a:r>
                        <a:rPr lang="en-US" sz="1500" b="1" dirty="0"/>
                        <a:t> </a:t>
                      </a:r>
                      <a:r>
                        <a:rPr lang="en-US" sz="1500" b="1" dirty="0" err="1"/>
                        <a:t>tinggi</a:t>
                      </a:r>
                      <a:r>
                        <a:rPr lang="en-US" sz="1500" b="1" dirty="0"/>
                        <a:t> </a:t>
                      </a:r>
                      <a:r>
                        <a:rPr lang="en-US" sz="1500" b="1" dirty="0" err="1"/>
                        <a:t>untuk</a:t>
                      </a:r>
                      <a:r>
                        <a:rPr lang="en-US" sz="1500" b="1" dirty="0"/>
                        <a:t> </a:t>
                      </a:r>
                      <a:r>
                        <a:rPr lang="en-US" sz="1500" b="1" dirty="0" err="1"/>
                        <a:t>memenuhi</a:t>
                      </a:r>
                      <a:r>
                        <a:rPr lang="en-US" sz="1500" b="1" dirty="0"/>
                        <a:t> </a:t>
                      </a:r>
                      <a:r>
                        <a:rPr lang="en-US" sz="1500" b="1" dirty="0" err="1"/>
                        <a:t>kebutuhan</a:t>
                      </a:r>
                      <a:r>
                        <a:rPr lang="en-US" sz="1500" b="1" dirty="0"/>
                        <a:t> pasar </a:t>
                      </a:r>
                      <a:r>
                        <a:rPr lang="en-US" sz="1500" b="1" dirty="0" err="1"/>
                        <a:t>domestik</a:t>
                      </a:r>
                      <a:r>
                        <a:rPr lang="en-US" sz="1500" b="1" dirty="0"/>
                        <a:t> </a:t>
                      </a:r>
                      <a:r>
                        <a:rPr lang="en-US" sz="1500" b="1" dirty="0" err="1"/>
                        <a:t>maupun</a:t>
                      </a:r>
                      <a:r>
                        <a:rPr lang="en-US" sz="1500" b="1" dirty="0"/>
                        <a:t> </a:t>
                      </a:r>
                      <a:r>
                        <a:rPr lang="en-US" sz="1500" b="1" dirty="0" err="1"/>
                        <a:t>internasional</a:t>
                      </a:r>
                      <a:r>
                        <a:rPr lang="en-US" sz="1500" b="1" dirty="0"/>
                        <a:t>.</a:t>
                      </a:r>
                      <a:endParaRPr lang="en-US" sz="1500" dirty="0"/>
                    </a:p>
                  </a:txBody>
                  <a:tcPr/>
                </a:tc>
                <a:extLst>
                  <a:ext uri="{0D108BD9-81ED-4DB2-BD59-A6C34878D82A}">
                    <a16:rowId xmlns:a16="http://schemas.microsoft.com/office/drawing/2014/main" val="2387879687"/>
                  </a:ext>
                </a:extLst>
              </a:tr>
            </a:tbl>
          </a:graphicData>
        </a:graphic>
      </p:graphicFrame>
      <p:grpSp>
        <p:nvGrpSpPr>
          <p:cNvPr id="6" name="Group 5">
            <a:extLst>
              <a:ext uri="{FF2B5EF4-FFF2-40B4-BE49-F238E27FC236}">
                <a16:creationId xmlns:a16="http://schemas.microsoft.com/office/drawing/2014/main" id="{29101635-D14A-D0AC-10DB-C291E6C62397}"/>
              </a:ext>
            </a:extLst>
          </p:cNvPr>
          <p:cNvGrpSpPr/>
          <p:nvPr/>
        </p:nvGrpSpPr>
        <p:grpSpPr>
          <a:xfrm>
            <a:off x="118290" y="1120430"/>
            <a:ext cx="8927675" cy="2966321"/>
            <a:chOff x="118290" y="1228131"/>
            <a:chExt cx="8927675" cy="2966321"/>
          </a:xfrm>
        </p:grpSpPr>
        <p:pic>
          <p:nvPicPr>
            <p:cNvPr id="3" name="Picture 2" descr="A picture containing map, world&#10;&#10;Description automatically generated">
              <a:extLst>
                <a:ext uri="{FF2B5EF4-FFF2-40B4-BE49-F238E27FC236}">
                  <a16:creationId xmlns:a16="http://schemas.microsoft.com/office/drawing/2014/main" id="{3E93BDD9-AFE9-B8EC-4237-E8082B5AD719}"/>
                </a:ext>
              </a:extLst>
            </p:cNvPr>
            <p:cNvPicPr>
              <a:picLocks noChangeAspect="1"/>
            </p:cNvPicPr>
            <p:nvPr/>
          </p:nvPicPr>
          <p:blipFill rotWithShape="1">
            <a:blip r:embed="rId3">
              <a:duotone>
                <a:prstClr val="black"/>
                <a:srgbClr val="5FD1C2">
                  <a:tint val="45000"/>
                  <a:satMod val="400000"/>
                </a:srgbClr>
              </a:duotone>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val="0"/>
                </a:ext>
              </a:extLst>
            </a:blip>
            <a:srcRect b="3048"/>
            <a:stretch/>
          </p:blipFill>
          <p:spPr>
            <a:xfrm>
              <a:off x="118290" y="1228131"/>
              <a:ext cx="8927675" cy="2966321"/>
            </a:xfrm>
            <a:prstGeom prst="rect">
              <a:avLst/>
            </a:prstGeom>
            <a:solidFill>
              <a:schemeClr val="bg1"/>
            </a:solidFill>
          </p:spPr>
        </p:pic>
        <p:sp>
          <p:nvSpPr>
            <p:cNvPr id="121" name="Oval 120">
              <a:extLst>
                <a:ext uri="{FF2B5EF4-FFF2-40B4-BE49-F238E27FC236}">
                  <a16:creationId xmlns:a16="http://schemas.microsoft.com/office/drawing/2014/main" id="{CC21299D-F4A9-4C53-350E-33844FA29F5E}"/>
                </a:ext>
              </a:extLst>
            </p:cNvPr>
            <p:cNvSpPr/>
            <p:nvPr/>
          </p:nvSpPr>
          <p:spPr>
            <a:xfrm>
              <a:off x="1595737" y="2557364"/>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622C7297-7002-2EC3-CF18-B339F681DDDB}"/>
                </a:ext>
              </a:extLst>
            </p:cNvPr>
            <p:cNvSpPr/>
            <p:nvPr/>
          </p:nvSpPr>
          <p:spPr>
            <a:xfrm>
              <a:off x="4679105" y="2123423"/>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E3A288B-ABC7-09F2-A6C0-619797C83778}"/>
                </a:ext>
              </a:extLst>
            </p:cNvPr>
            <p:cNvSpPr/>
            <p:nvPr/>
          </p:nvSpPr>
          <p:spPr>
            <a:xfrm>
              <a:off x="3923033" y="2494410"/>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A70FB2A-92CB-BDCB-7987-1A461AAE9072}"/>
                </a:ext>
              </a:extLst>
            </p:cNvPr>
            <p:cNvSpPr/>
            <p:nvPr/>
          </p:nvSpPr>
          <p:spPr>
            <a:xfrm>
              <a:off x="2701884" y="3457615"/>
              <a:ext cx="113245" cy="118128"/>
            </a:xfrm>
            <a:prstGeom prst="ellipse">
              <a:avLst/>
            </a:prstGeom>
            <a:ln>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grpSp>
      <p:cxnSp>
        <p:nvCxnSpPr>
          <p:cNvPr id="5" name="Straight Connector 4">
            <a:extLst>
              <a:ext uri="{FF2B5EF4-FFF2-40B4-BE49-F238E27FC236}">
                <a16:creationId xmlns:a16="http://schemas.microsoft.com/office/drawing/2014/main" id="{A8A864D2-69A8-A6F5-DDA4-8574175295C9}"/>
              </a:ext>
            </a:extLst>
          </p:cNvPr>
          <p:cNvCxnSpPr/>
          <p:nvPr/>
        </p:nvCxnSpPr>
        <p:spPr>
          <a:xfrm>
            <a:off x="3329677" y="1008993"/>
            <a:ext cx="869626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25" name="Connector: Elbow 124">
            <a:extLst>
              <a:ext uri="{FF2B5EF4-FFF2-40B4-BE49-F238E27FC236}">
                <a16:creationId xmlns:a16="http://schemas.microsoft.com/office/drawing/2014/main" id="{DC46A14B-0613-E160-CC4B-F25921EDE7E3}"/>
              </a:ext>
            </a:extLst>
          </p:cNvPr>
          <p:cNvCxnSpPr>
            <a:cxnSpLocks/>
            <a:stCxn id="121" idx="7"/>
          </p:cNvCxnSpPr>
          <p:nvPr/>
        </p:nvCxnSpPr>
        <p:spPr>
          <a:xfrm rot="5400000" flipH="1" flipV="1">
            <a:off x="5076729" y="-1795167"/>
            <a:ext cx="877798" cy="7646460"/>
          </a:xfrm>
          <a:prstGeom prst="bentConnector2">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73" name="Connector: Elbow 72">
            <a:extLst>
              <a:ext uri="{FF2B5EF4-FFF2-40B4-BE49-F238E27FC236}">
                <a16:creationId xmlns:a16="http://schemas.microsoft.com/office/drawing/2014/main" id="{86763F97-08FB-A872-DE72-C507A1E89583}"/>
              </a:ext>
            </a:extLst>
          </p:cNvPr>
          <p:cNvCxnSpPr>
            <a:cxnSpLocks/>
            <a:stCxn id="17" idx="6"/>
          </p:cNvCxnSpPr>
          <p:nvPr/>
        </p:nvCxnSpPr>
        <p:spPr>
          <a:xfrm>
            <a:off x="4792350" y="2074786"/>
            <a:ext cx="4566060" cy="1029626"/>
          </a:xfrm>
          <a:prstGeom prst="bentConnector3">
            <a:avLst>
              <a:gd name="adj1" fmla="val 96267"/>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2" name="Connector: Elbow 81">
            <a:extLst>
              <a:ext uri="{FF2B5EF4-FFF2-40B4-BE49-F238E27FC236}">
                <a16:creationId xmlns:a16="http://schemas.microsoft.com/office/drawing/2014/main" id="{5551805F-D117-561B-00AC-77C7AA53FBE8}"/>
              </a:ext>
            </a:extLst>
          </p:cNvPr>
          <p:cNvCxnSpPr>
            <a:cxnSpLocks/>
          </p:cNvCxnSpPr>
          <p:nvPr/>
        </p:nvCxnSpPr>
        <p:spPr>
          <a:xfrm>
            <a:off x="4036278" y="2441202"/>
            <a:ext cx="5252765" cy="1863597"/>
          </a:xfrm>
          <a:prstGeom prst="bentConnector3">
            <a:avLst>
              <a:gd name="adj1" fmla="val 93220"/>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C5A62F0C-8D46-D575-F7CB-5137A7FE4648}"/>
              </a:ext>
            </a:extLst>
          </p:cNvPr>
          <p:cNvCxnSpPr>
            <a:cxnSpLocks/>
          </p:cNvCxnSpPr>
          <p:nvPr/>
        </p:nvCxnSpPr>
        <p:spPr>
          <a:xfrm>
            <a:off x="8691323" y="1311691"/>
            <a:ext cx="3500677" cy="0"/>
          </a:xfrm>
          <a:prstGeom prst="line">
            <a:avLst/>
          </a:prstGeom>
          <a:ln w="19050">
            <a:solidFill>
              <a:schemeClr val="bg1"/>
            </a:solidFill>
          </a:ln>
        </p:spPr>
        <p:style>
          <a:lnRef idx="1">
            <a:schemeClr val="dk1"/>
          </a:lnRef>
          <a:fillRef idx="0">
            <a:schemeClr val="dk1"/>
          </a:fillRef>
          <a:effectRef idx="0">
            <a:schemeClr val="dk1"/>
          </a:effectRef>
          <a:fontRef idx="minor">
            <a:schemeClr val="tx1"/>
          </a:fontRef>
        </p:style>
      </p:cxnSp>
      <p:sp>
        <p:nvSpPr>
          <p:cNvPr id="58" name="Freeform: Shape 57">
            <a:extLst>
              <a:ext uri="{FF2B5EF4-FFF2-40B4-BE49-F238E27FC236}">
                <a16:creationId xmlns:a16="http://schemas.microsoft.com/office/drawing/2014/main" id="{0F649A41-073C-6C1E-5169-9A7A16B298A3}"/>
              </a:ext>
            </a:extLst>
          </p:cNvPr>
          <p:cNvSpPr/>
          <p:nvPr/>
        </p:nvSpPr>
        <p:spPr>
          <a:xfrm>
            <a:off x="9369675" y="1049326"/>
            <a:ext cx="2704035" cy="871263"/>
          </a:xfrm>
          <a:custGeom>
            <a:avLst/>
            <a:gdLst>
              <a:gd name="connsiteX0" fmla="*/ 76242 w 1276689"/>
              <a:gd name="connsiteY0" fmla="*/ 0 h 953021"/>
              <a:gd name="connsiteX1" fmla="*/ 1200447 w 1276689"/>
              <a:gd name="connsiteY1" fmla="*/ 0 h 953021"/>
              <a:gd name="connsiteX2" fmla="*/ 1276689 w 1276689"/>
              <a:gd name="connsiteY2" fmla="*/ 76242 h 953021"/>
              <a:gd name="connsiteX3" fmla="*/ 1276689 w 1276689"/>
              <a:gd name="connsiteY3" fmla="*/ 953021 h 953021"/>
              <a:gd name="connsiteX4" fmla="*/ 1276689 w 1276689"/>
              <a:gd name="connsiteY4" fmla="*/ 953021 h 953021"/>
              <a:gd name="connsiteX5" fmla="*/ 0 w 1276689"/>
              <a:gd name="connsiteY5" fmla="*/ 953021 h 953021"/>
              <a:gd name="connsiteX6" fmla="*/ 0 w 1276689"/>
              <a:gd name="connsiteY6" fmla="*/ 953021 h 953021"/>
              <a:gd name="connsiteX7" fmla="*/ 0 w 1276689"/>
              <a:gd name="connsiteY7" fmla="*/ 76242 h 953021"/>
              <a:gd name="connsiteX8" fmla="*/ 76242 w 1276689"/>
              <a:gd name="connsiteY8" fmla="*/ 0 h 953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6689" h="953021">
                <a:moveTo>
                  <a:pt x="76242" y="0"/>
                </a:moveTo>
                <a:lnTo>
                  <a:pt x="1200447" y="0"/>
                </a:lnTo>
                <a:cubicBezTo>
                  <a:pt x="1242554" y="0"/>
                  <a:pt x="1276689" y="34135"/>
                  <a:pt x="1276689" y="76242"/>
                </a:cubicBezTo>
                <a:lnTo>
                  <a:pt x="1276689" y="953021"/>
                </a:lnTo>
                <a:lnTo>
                  <a:pt x="1276689" y="953021"/>
                </a:lnTo>
                <a:lnTo>
                  <a:pt x="0" y="953021"/>
                </a:lnTo>
                <a:lnTo>
                  <a:pt x="0" y="953021"/>
                </a:lnTo>
                <a:lnTo>
                  <a:pt x="0" y="76242"/>
                </a:lnTo>
                <a:cubicBezTo>
                  <a:pt x="0" y="34135"/>
                  <a:pt x="34135" y="0"/>
                  <a:pt x="76242" y="0"/>
                </a:cubicBezTo>
                <a:close/>
              </a:path>
            </a:pathLst>
          </a:custGeom>
          <a:ln>
            <a:solidFill>
              <a:srgbClr val="F4B183"/>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5190" tIns="90910" rIns="45190" bIns="22860" numCol="1" spcCol="1270" anchor="ctr" anchorCtr="0">
            <a:noAutofit/>
          </a:bodyPr>
          <a:lstStyle/>
          <a:p>
            <a:pPr marL="341313" lvl="1" algn="ctr" defTabSz="800100">
              <a:lnSpc>
                <a:spcPct val="90000"/>
              </a:lnSpc>
              <a:spcBef>
                <a:spcPct val="0"/>
              </a:spcBef>
              <a:spcAft>
                <a:spcPct val="15000"/>
              </a:spcAft>
            </a:pPr>
            <a:r>
              <a:rPr lang="en-US" kern="1200" dirty="0"/>
              <a:t>2 Estates </a:t>
            </a:r>
            <a:endParaRPr lang="en-ID" kern="1200" dirty="0"/>
          </a:p>
          <a:p>
            <a:pPr marL="341313" lvl="1" algn="ctr" defTabSz="800100">
              <a:lnSpc>
                <a:spcPct val="90000"/>
              </a:lnSpc>
              <a:spcBef>
                <a:spcPct val="0"/>
              </a:spcBef>
              <a:spcAft>
                <a:spcPct val="15000"/>
              </a:spcAft>
            </a:pPr>
            <a:r>
              <a:rPr lang="en-US" kern="1200" dirty="0"/>
              <a:t>1 CPO Mill</a:t>
            </a:r>
            <a:endParaRPr lang="en-ID" kern="1200" dirty="0"/>
          </a:p>
        </p:txBody>
      </p:sp>
      <p:pic>
        <p:nvPicPr>
          <p:cNvPr id="66" name="Picture 417" descr="icon-tree-palm.gif">
            <a:extLst>
              <a:ext uri="{FF2B5EF4-FFF2-40B4-BE49-F238E27FC236}">
                <a16:creationId xmlns:a16="http://schemas.microsoft.com/office/drawing/2014/main" id="{8CCB2A4E-CC4C-AAF6-C4AE-FADA88A5A845}"/>
              </a:ext>
            </a:extLst>
          </p:cNvPr>
          <p:cNvPicPr>
            <a:picLocks noChangeAspect="1"/>
          </p:cNvPicPr>
          <p:nvPr/>
        </p:nvPicPr>
        <p:blipFill>
          <a:blip r:embed="rId2">
            <a:extLst>
              <a:ext uri="{28A0092B-C50C-407E-A947-70E740481C1C}">
                <a14:useLocalDpi xmlns:a14="http://schemas.microsoft.com/office/drawing/2010/main" val="0"/>
              </a:ext>
            </a:extLst>
          </a:blip>
          <a:srcRect l="22977" r="8093"/>
          <a:stretch>
            <a:fillRect/>
          </a:stretch>
        </p:blipFill>
        <p:spPr bwMode="auto">
          <a:xfrm>
            <a:off x="9600627" y="1221826"/>
            <a:ext cx="668378" cy="564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8" name="Connector: Elbow 87">
            <a:extLst>
              <a:ext uri="{FF2B5EF4-FFF2-40B4-BE49-F238E27FC236}">
                <a16:creationId xmlns:a16="http://schemas.microsoft.com/office/drawing/2014/main" id="{D5A1F867-6148-9776-D8F9-0A4CD3D2AE0B}"/>
              </a:ext>
            </a:extLst>
          </p:cNvPr>
          <p:cNvCxnSpPr>
            <a:cxnSpLocks/>
            <a:stCxn id="23" idx="6"/>
          </p:cNvCxnSpPr>
          <p:nvPr/>
        </p:nvCxnSpPr>
        <p:spPr>
          <a:xfrm>
            <a:off x="2815129" y="3408978"/>
            <a:ext cx="6559505" cy="1986246"/>
          </a:xfrm>
          <a:prstGeom prst="bentConnector3">
            <a:avLst>
              <a:gd name="adj1" fmla="val 91051"/>
            </a:avLst>
          </a:prstGeom>
          <a:ln w="127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53935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319B4-3699-A9DA-BEF0-436AF3936D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A798A0-E6D2-25D3-EAF2-DF5D56DBE632}"/>
              </a:ext>
            </a:extLst>
          </p:cNvPr>
          <p:cNvSpPr>
            <a:spLocks noGrp="1"/>
          </p:cNvSpPr>
          <p:nvPr>
            <p:ph type="title"/>
          </p:nvPr>
        </p:nvSpPr>
        <p:spPr>
          <a:xfrm>
            <a:off x="3878293" y="300840"/>
            <a:ext cx="8214969" cy="760394"/>
          </a:xfrm>
        </p:spPr>
        <p:txBody>
          <a:bodyPr/>
          <a:lstStyle/>
          <a:p>
            <a:r>
              <a:rPr lang="en-US" dirty="0" err="1"/>
              <a:t>Profil</a:t>
            </a:r>
            <a:r>
              <a:rPr lang="en-US" dirty="0"/>
              <a:t> Perusahaan PT. </a:t>
            </a:r>
            <a:r>
              <a:rPr lang="en-US" dirty="0" err="1"/>
              <a:t>Triputra</a:t>
            </a:r>
            <a:r>
              <a:rPr lang="en-US" dirty="0"/>
              <a:t> </a:t>
            </a:r>
            <a:r>
              <a:rPr lang="en-US" dirty="0" err="1"/>
              <a:t>Agro</a:t>
            </a:r>
            <a:r>
              <a:rPr lang="en-US" dirty="0"/>
              <a:t> </a:t>
            </a:r>
            <a:r>
              <a:rPr lang="en-US" dirty="0" err="1"/>
              <a:t>Persada</a:t>
            </a:r>
            <a:r>
              <a:rPr lang="en-US" dirty="0"/>
              <a:t>, </a:t>
            </a:r>
            <a:r>
              <a:rPr lang="en-US" dirty="0" err="1"/>
              <a:t>Tbk</a:t>
            </a:r>
            <a:endParaRPr lang="en-US" dirty="0"/>
          </a:p>
        </p:txBody>
      </p:sp>
      <p:sp>
        <p:nvSpPr>
          <p:cNvPr id="100" name="VisionBanner"/>
          <p:cNvSpPr/>
          <p:nvPr/>
        </p:nvSpPr>
        <p:spPr>
          <a:xfrm>
            <a:off x="334852" y="1458322"/>
            <a:ext cx="1670117" cy="440826"/>
          </a:xfrm>
          <a:prstGeom prst="roundRect">
            <a:avLst>
              <a:gd name="adj" fmla="val 30000"/>
            </a:avLst>
          </a:prstGeom>
          <a:solidFill>
            <a:srgbClr val="1B6B3A"/>
          </a:solidFill>
          <a:ln w="0">
            <a:noFill/>
          </a:ln>
        </p:spPr>
        <p:txBody>
          <a:bodyPr wrap="square" lIns="144000" tIns="36000" rIns="72000" bIns="36000" anchor="ctr"/>
          <a:lstStyle/>
          <a:p>
            <a:pPr algn="l">
              <a:buNone/>
            </a:pPr>
            <a:r>
              <a:rPr lang="id-ID" sz="2000" b="1" dirty="0">
                <a:solidFill>
                  <a:srgbClr val="FFFFFF"/>
                </a:solidFill>
                <a:latin typeface="Calibri"/>
              </a:rPr>
              <a:t>VISI</a:t>
            </a:r>
            <a:r>
              <a:rPr lang="en-US" sz="2000" b="1" dirty="0">
                <a:solidFill>
                  <a:srgbClr val="FFFFFF"/>
                </a:solidFill>
                <a:latin typeface="Calibri"/>
              </a:rPr>
              <a:t>ON</a:t>
            </a:r>
            <a:endParaRPr lang="id-ID" sz="2000" b="1" dirty="0">
              <a:solidFill>
                <a:srgbClr val="FFFFFF"/>
              </a:solidFill>
              <a:latin typeface="Calibri"/>
            </a:endParaRPr>
          </a:p>
        </p:txBody>
      </p:sp>
      <p:sp>
        <p:nvSpPr>
          <p:cNvPr id="101" name="VisionCard"/>
          <p:cNvSpPr/>
          <p:nvPr/>
        </p:nvSpPr>
        <p:spPr>
          <a:xfrm>
            <a:off x="334852" y="1894622"/>
            <a:ext cx="6166616" cy="1121876"/>
          </a:xfrm>
          <a:prstGeom prst="roundRect">
            <a:avLst/>
          </a:prstGeom>
          <a:solidFill>
            <a:srgbClr val="EAF7EE"/>
          </a:solidFill>
          <a:ln w="19050">
            <a:solidFill>
              <a:srgbClr val="1B6B3A"/>
            </a:solidFill>
          </a:ln>
        </p:spPr>
        <p:txBody>
          <a:bodyPr wrap="square" lIns="108000" tIns="72000" rIns="108000" bIns="72000" anchor="ctr"/>
          <a:lstStyle/>
          <a:p>
            <a:pPr algn="r">
              <a:buNone/>
            </a:pPr>
            <a:r>
              <a:rPr lang="en-US" sz="1600" b="1" i="1" dirty="0">
                <a:solidFill>
                  <a:srgbClr val="1B6B3A"/>
                </a:solidFill>
                <a:latin typeface="Calibri"/>
              </a:rPr>
              <a:t>"Excellent Plantation for the World“</a:t>
            </a:r>
          </a:p>
          <a:p>
            <a:pPr algn="just"/>
            <a:r>
              <a:rPr lang="id-ID" sz="1200" dirty="0">
                <a:solidFill>
                  <a:srgbClr val="2C3E50"/>
                </a:solidFill>
              </a:rPr>
              <a:t>Membangun perkebunan secara berkelanjutan yang memberikan hasil perkebunan yang maksimal, produktivitas kerja yang tinggi, beban yang efisien, kemampuan tanam yang agresif dengan kualitas terbaik, disertai reputasi yang baik dan dukungan pendanaan dari pemegang saham dan perbankan.</a:t>
            </a:r>
            <a:endParaRPr lang="id-ID" sz="1400" dirty="0">
              <a:solidFill>
                <a:srgbClr val="2C3E50"/>
              </a:solidFill>
            </a:endParaRPr>
          </a:p>
        </p:txBody>
      </p:sp>
      <p:sp>
        <p:nvSpPr>
          <p:cNvPr id="102" name="MissionBanner"/>
          <p:cNvSpPr/>
          <p:nvPr/>
        </p:nvSpPr>
        <p:spPr>
          <a:xfrm>
            <a:off x="334853" y="3096954"/>
            <a:ext cx="1670116" cy="440826"/>
          </a:xfrm>
          <a:prstGeom prst="roundRect">
            <a:avLst>
              <a:gd name="adj" fmla="val 30000"/>
            </a:avLst>
          </a:prstGeom>
          <a:solidFill>
            <a:srgbClr val="A04800"/>
          </a:solidFill>
          <a:ln w="0">
            <a:noFill/>
          </a:ln>
        </p:spPr>
        <p:txBody>
          <a:bodyPr wrap="square" lIns="144000" tIns="36000" rIns="72000" bIns="36000" anchor="ctr"/>
          <a:lstStyle/>
          <a:p>
            <a:pPr algn="l">
              <a:buNone/>
            </a:pPr>
            <a:r>
              <a:rPr lang="id-ID" sz="2000" b="1" dirty="0">
                <a:solidFill>
                  <a:srgbClr val="FFFFFF"/>
                </a:solidFill>
                <a:latin typeface="Calibri"/>
              </a:rPr>
              <a:t>MIS</a:t>
            </a:r>
            <a:r>
              <a:rPr lang="en-US" sz="2000" b="1" dirty="0">
                <a:solidFill>
                  <a:srgbClr val="FFFFFF"/>
                </a:solidFill>
                <a:latin typeface="Calibri"/>
              </a:rPr>
              <a:t>SION</a:t>
            </a:r>
            <a:endParaRPr lang="id-ID" sz="2000" b="1" dirty="0">
              <a:solidFill>
                <a:srgbClr val="FFFFFF"/>
              </a:solidFill>
              <a:latin typeface="Calibri"/>
            </a:endParaRPr>
          </a:p>
        </p:txBody>
      </p:sp>
      <p:sp>
        <p:nvSpPr>
          <p:cNvPr id="103" name="MissionTagline"/>
          <p:cNvSpPr/>
          <p:nvPr/>
        </p:nvSpPr>
        <p:spPr>
          <a:xfrm>
            <a:off x="334853" y="3542730"/>
            <a:ext cx="6166616" cy="1222215"/>
          </a:xfrm>
          <a:prstGeom prst="roundRect">
            <a:avLst>
              <a:gd name="adj" fmla="val 10000"/>
            </a:avLst>
          </a:prstGeom>
          <a:solidFill>
            <a:srgbClr val="FFF3E8"/>
          </a:solidFill>
          <a:ln w="19050">
            <a:solidFill>
              <a:srgbClr val="E67E22"/>
            </a:solidFill>
          </a:ln>
        </p:spPr>
        <p:txBody>
          <a:bodyPr wrap="square" lIns="72000" tIns="36000" rIns="72000" bIns="36000" anchor="ctr"/>
          <a:lstStyle/>
          <a:p>
            <a:pPr algn="r">
              <a:buNone/>
            </a:pPr>
            <a:r>
              <a:rPr lang="en-US" sz="1600" b="1" i="1" dirty="0">
                <a:solidFill>
                  <a:srgbClr val="8B4000"/>
                </a:solidFill>
                <a:latin typeface="Calibri"/>
              </a:rPr>
              <a:t>"Green Plantation for Better Quality of Life“</a:t>
            </a:r>
          </a:p>
          <a:p>
            <a:pPr algn="just"/>
            <a:r>
              <a:rPr lang="id-ID" sz="1200" dirty="0">
                <a:solidFill>
                  <a:srgbClr val="2C3E50"/>
                </a:solidFill>
              </a:rPr>
              <a:t>Menjadi perusahaan bertaraf internasional yang dominan dan diperhitungkan baik oleh perusahaan perkebunan lainnya maupun pasar.</a:t>
            </a:r>
            <a:r>
              <a:rPr lang="en-US" sz="1200" dirty="0">
                <a:solidFill>
                  <a:srgbClr val="2C3E50"/>
                </a:solidFill>
              </a:rPr>
              <a:t> </a:t>
            </a:r>
            <a:r>
              <a:rPr lang="id-ID" sz="1200" dirty="0">
                <a:solidFill>
                  <a:srgbClr val="2C3E50"/>
                </a:solidFill>
              </a:rPr>
              <a:t>Memberikan kontribusi positif bagi perekonomian dunia dan lingkungan sosial dengan konsep perkebunan yang ramah lingkungan.</a:t>
            </a:r>
            <a:r>
              <a:rPr lang="en-US" sz="1200" dirty="0">
                <a:solidFill>
                  <a:srgbClr val="2C3E50"/>
                </a:solidFill>
              </a:rPr>
              <a:t> </a:t>
            </a:r>
            <a:r>
              <a:rPr lang="id-ID" sz="1200" dirty="0">
                <a:solidFill>
                  <a:srgbClr val="2C3E50"/>
                </a:solidFill>
              </a:rPr>
              <a:t>Meningkatkan taraf hidup orang banyak melalui praktik perkebunan berkelanjutan yang bertanggung jawab secara sosial dan lingkungan.</a:t>
            </a:r>
          </a:p>
        </p:txBody>
      </p:sp>
      <p:pic>
        <p:nvPicPr>
          <p:cNvPr id="122" name="Graphic 122" descr="Globe icon for Visi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00930" y="1453371"/>
            <a:ext cx="406400" cy="406400"/>
          </a:xfrm>
          <a:prstGeom prst="rect">
            <a:avLst/>
          </a:prstGeom>
        </p:spPr>
      </p:pic>
      <p:pic>
        <p:nvPicPr>
          <p:cNvPr id="123" name="Graphic 123" descr="Flag icon for Missi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0930" y="3114167"/>
            <a:ext cx="406400" cy="406400"/>
          </a:xfrm>
          <a:prstGeom prst="rect">
            <a:avLst/>
          </a:prstGeom>
        </p:spPr>
      </p:pic>
      <p:pic>
        <p:nvPicPr>
          <p:cNvPr id="3" name="Picture 2">
            <a:extLst>
              <a:ext uri="{FF2B5EF4-FFF2-40B4-BE49-F238E27FC236}">
                <a16:creationId xmlns:a16="http://schemas.microsoft.com/office/drawing/2014/main" id="{984CAB20-7572-AED7-BF28-56F7047C46E5}"/>
              </a:ext>
            </a:extLst>
          </p:cNvPr>
          <p:cNvPicPr>
            <a:picLocks noChangeAspect="1"/>
          </p:cNvPicPr>
          <p:nvPr/>
        </p:nvPicPr>
        <p:blipFill>
          <a:blip r:embed="rId4"/>
          <a:stretch>
            <a:fillRect/>
          </a:stretch>
        </p:blipFill>
        <p:spPr>
          <a:xfrm>
            <a:off x="6567826" y="1383009"/>
            <a:ext cx="5624174" cy="5244292"/>
          </a:xfrm>
          <a:prstGeom prst="rect">
            <a:avLst/>
          </a:prstGeom>
        </p:spPr>
      </p:pic>
      <p:pic>
        <p:nvPicPr>
          <p:cNvPr id="6" name="Picture 5">
            <a:extLst>
              <a:ext uri="{FF2B5EF4-FFF2-40B4-BE49-F238E27FC236}">
                <a16:creationId xmlns:a16="http://schemas.microsoft.com/office/drawing/2014/main" id="{C0AE187C-63E9-81EE-11BD-B57586997B8C}"/>
              </a:ext>
            </a:extLst>
          </p:cNvPr>
          <p:cNvPicPr>
            <a:picLocks noChangeAspect="1"/>
          </p:cNvPicPr>
          <p:nvPr/>
        </p:nvPicPr>
        <p:blipFill>
          <a:blip r:embed="rId5"/>
          <a:stretch>
            <a:fillRect/>
          </a:stretch>
        </p:blipFill>
        <p:spPr>
          <a:xfrm>
            <a:off x="334853" y="4764946"/>
            <a:ext cx="6166616" cy="1862355"/>
          </a:xfrm>
          <a:prstGeom prst="rect">
            <a:avLst/>
          </a:prstGeom>
        </p:spPr>
      </p:pic>
    </p:spTree>
    <p:extLst>
      <p:ext uri="{BB962C8B-B14F-4D97-AF65-F5344CB8AC3E}">
        <p14:creationId xmlns:p14="http://schemas.microsoft.com/office/powerpoint/2010/main" val="665180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6B17-CDFA-6737-BED8-47F1A490D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EF453-204A-03B4-1C17-9DE07092408C}"/>
              </a:ext>
            </a:extLst>
          </p:cNvPr>
          <p:cNvSpPr txBox="1">
            <a:spLocks/>
          </p:cNvSpPr>
          <p:nvPr/>
        </p:nvSpPr>
        <p:spPr>
          <a:xfrm>
            <a:off x="3902493" y="378657"/>
            <a:ext cx="8177890" cy="791198"/>
          </a:xfrm>
          <a:prstGeom prst="rect">
            <a:avLst/>
          </a:prstGeom>
        </p:spPr>
        <p:txBody>
          <a:bodyPr>
            <a:normAutofit/>
          </a:bodyPr>
          <a:lstStyle>
            <a:lvl1pPr algn="l" defTabSz="914400" rtl="0" eaLnBrk="1" latinLnBrk="0" hangingPunct="1">
              <a:lnSpc>
                <a:spcPct val="90000"/>
              </a:lnSpc>
              <a:spcBef>
                <a:spcPct val="0"/>
              </a:spcBef>
              <a:buNone/>
              <a:defRPr sz="3200" kern="1200" baseline="0">
                <a:solidFill>
                  <a:schemeClr val="tx1"/>
                </a:solidFill>
                <a:latin typeface="Calibri" panose="020F0502020204030204" pitchFamily="34" charset="0"/>
                <a:ea typeface="+mj-ea"/>
                <a:cs typeface="+mj-cs"/>
              </a:defRPr>
            </a:lvl1pPr>
          </a:lstStyle>
          <a:p>
            <a:pPr algn="r"/>
            <a:r>
              <a:rPr lang="en-US" dirty="0" err="1"/>
              <a:t>Profil</a:t>
            </a:r>
            <a:r>
              <a:rPr lang="en-US" dirty="0"/>
              <a:t> PT.ANUGERAH ABADI PRIMA AGUNG</a:t>
            </a:r>
          </a:p>
        </p:txBody>
      </p:sp>
      <p:sp>
        <p:nvSpPr>
          <p:cNvPr id="3" name="TextBox 2">
            <a:extLst>
              <a:ext uri="{FF2B5EF4-FFF2-40B4-BE49-F238E27FC236}">
                <a16:creationId xmlns:a16="http://schemas.microsoft.com/office/drawing/2014/main" id="{3C6EA773-A85D-A4BE-5357-A36FA3991003}"/>
              </a:ext>
            </a:extLst>
          </p:cNvPr>
          <p:cNvSpPr txBox="1"/>
          <p:nvPr/>
        </p:nvSpPr>
        <p:spPr>
          <a:xfrm>
            <a:off x="244734" y="1313667"/>
            <a:ext cx="11468675" cy="1969766"/>
          </a:xfrm>
          <a:prstGeom prst="rect">
            <a:avLst/>
          </a:prstGeom>
          <a:noFill/>
          <a:ln w="6350" cap="flat" cmpd="sng" algn="ctr">
            <a:noFill/>
            <a:prstDash val="solid"/>
            <a:miter lim="800000"/>
          </a:ln>
          <a:effectLst/>
        </p:spPr>
        <p:txBody>
          <a:bodyPr wrap="square" lIns="121917" tIns="60958" rIns="121917" bIns="60958">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mn-lt"/>
                <a:cs typeface="Calibri" pitchFamily="34" charset="0"/>
              </a:rPr>
              <a:t>Nama Perusahaan		:  </a:t>
            </a:r>
            <a:r>
              <a:rPr kumimoji="0" lang="en-US" sz="240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mn-lt"/>
                <a:cs typeface="Calibri" pitchFamily="34" charset="0"/>
              </a:rPr>
              <a:t>PT. </a:t>
            </a:r>
            <a:r>
              <a:rPr kumimoji="0" lang="en-US" sz="2400" i="0" u="none" strike="noStrike" kern="0" cap="none" spc="0" normalizeH="0" baseline="0" noProof="0" dirty="0" err="1">
                <a:ln>
                  <a:noFill/>
                </a:ln>
                <a:solidFill>
                  <a:srgbClr val="000000"/>
                </a:solidFill>
                <a:effectLst>
                  <a:outerShdw blurRad="38100" dist="38100" dir="2700000" algn="tl">
                    <a:srgbClr val="000000">
                      <a:alpha val="43137"/>
                    </a:srgbClr>
                  </a:outerShdw>
                </a:effectLst>
                <a:uLnTx/>
                <a:uFillTx/>
                <a:latin typeface="+mn-lt"/>
                <a:cs typeface="Calibri" pitchFamily="34" charset="0"/>
              </a:rPr>
              <a:t>Anugerah</a:t>
            </a:r>
            <a:r>
              <a:rPr kumimoji="0" lang="en-US" sz="240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mn-lt"/>
                <a:cs typeface="Calibri" pitchFamily="34" charset="0"/>
              </a:rPr>
              <a:t> Abadi Prima Agung</a:t>
            </a:r>
            <a:endParaRPr kumimoji="0" lang="en-US" sz="1600" i="0" u="none" strike="noStrike" kern="0" cap="none" spc="0" normalizeH="0" baseline="0" noProof="0" dirty="0">
              <a:ln>
                <a:noFill/>
              </a:ln>
              <a:solidFill>
                <a:srgbClr val="000000"/>
              </a:solidFill>
              <a:effectLst>
                <a:outerShdw blurRad="38100" dist="38100" dir="2700000" algn="tl">
                  <a:srgbClr val="000000">
                    <a:alpha val="43137"/>
                  </a:srgbClr>
                </a:outerShdw>
              </a:effectLst>
              <a:uLnTx/>
              <a:uFillTx/>
              <a:latin typeface="+mn-lt"/>
              <a:cs typeface="Calibri"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mn-lt"/>
                <a:cs typeface="Calibri" pitchFamily="34" charset="0"/>
              </a:rPr>
              <a:t>Alamat			:  Kampung </a:t>
            </a:r>
            <a:r>
              <a:rPr kumimoji="0" lang="en-US" sz="1600" i="0" u="none" strike="noStrike" kern="0" cap="none" spc="0" normalizeH="0" baseline="0" noProof="0" dirty="0" err="1">
                <a:ln>
                  <a:noFill/>
                </a:ln>
                <a:solidFill>
                  <a:srgbClr val="000000"/>
                </a:solidFill>
                <a:effectLst/>
                <a:uLnTx/>
                <a:uFillTx/>
                <a:latin typeface="+mn-lt"/>
                <a:cs typeface="Calibri" pitchFamily="34" charset="0"/>
              </a:rPr>
              <a:t>Merapun</a:t>
            </a:r>
            <a:r>
              <a:rPr lang="en-US" sz="1600" kern="0" dirty="0">
                <a:solidFill>
                  <a:srgbClr val="000000"/>
                </a:solidFill>
                <a:cs typeface="Calibri" pitchFamily="34" charset="0"/>
              </a:rPr>
              <a:t>, </a:t>
            </a:r>
            <a:r>
              <a:rPr lang="en-US" sz="1600" kern="0" dirty="0" err="1">
                <a:solidFill>
                  <a:srgbClr val="000000"/>
                </a:solidFill>
                <a:cs typeface="Calibri" pitchFamily="34" charset="0"/>
              </a:rPr>
              <a:t>Kec</a:t>
            </a:r>
            <a:r>
              <a:rPr lang="en-US" sz="1600" kern="0" dirty="0">
                <a:solidFill>
                  <a:srgbClr val="000000"/>
                </a:solidFill>
                <a:cs typeface="Calibri" pitchFamily="34" charset="0"/>
              </a:rPr>
              <a:t>. Kelai </a:t>
            </a:r>
            <a:r>
              <a:rPr lang="en-US" sz="1600" kern="0" dirty="0" err="1">
                <a:solidFill>
                  <a:srgbClr val="000000"/>
                </a:solidFill>
                <a:cs typeface="Calibri" pitchFamily="34" charset="0"/>
              </a:rPr>
              <a:t>Kab</a:t>
            </a:r>
            <a:r>
              <a:rPr lang="en-US" sz="1600" kern="0" dirty="0">
                <a:solidFill>
                  <a:srgbClr val="000000"/>
                </a:solidFill>
                <a:cs typeface="Calibri" pitchFamily="34" charset="0"/>
              </a:rPr>
              <a:t>.</a:t>
            </a:r>
            <a:r>
              <a:rPr kumimoji="0" lang="en-US" sz="1600" i="0" u="none" strike="noStrike" kern="0" cap="none" spc="0" normalizeH="0" baseline="0" noProof="0" dirty="0">
                <a:ln>
                  <a:noFill/>
                </a:ln>
                <a:solidFill>
                  <a:srgbClr val="000000"/>
                </a:solidFill>
                <a:effectLst/>
                <a:uLnTx/>
                <a:uFillTx/>
                <a:latin typeface="+mn-lt"/>
                <a:cs typeface="Calibri" pitchFamily="34" charset="0"/>
              </a:rPr>
              <a:t> </a:t>
            </a:r>
            <a:r>
              <a:rPr kumimoji="0" lang="en-US" sz="1600" i="0" u="none" strike="noStrike" kern="0" cap="none" spc="0" normalizeH="0" baseline="0" noProof="0" dirty="0" err="1">
                <a:ln>
                  <a:noFill/>
                </a:ln>
                <a:solidFill>
                  <a:srgbClr val="000000"/>
                </a:solidFill>
                <a:effectLst/>
                <a:uLnTx/>
                <a:uFillTx/>
                <a:latin typeface="+mn-lt"/>
                <a:cs typeface="Calibri" pitchFamily="34" charset="0"/>
              </a:rPr>
              <a:t>Berau</a:t>
            </a:r>
            <a:endParaRPr kumimoji="0" lang="en-US" sz="1600" i="0" u="none" strike="noStrike" kern="0" cap="none" spc="0" normalizeH="0" baseline="0" noProof="0" dirty="0">
              <a:ln>
                <a:noFill/>
              </a:ln>
              <a:solidFill>
                <a:srgbClr val="000000"/>
              </a:solidFill>
              <a:effectLst/>
              <a:uLnTx/>
              <a:uFillTx/>
              <a:latin typeface="+mn-lt"/>
              <a:cs typeface="Calibri"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err="1">
                <a:ln>
                  <a:noFill/>
                </a:ln>
                <a:solidFill>
                  <a:srgbClr val="000000"/>
                </a:solidFill>
                <a:effectLst/>
                <a:uLnTx/>
                <a:uFillTx/>
                <a:latin typeface="+mn-lt"/>
                <a:cs typeface="Calibri" pitchFamily="34" charset="0"/>
              </a:rPr>
              <a:t>Berdiri</a:t>
            </a:r>
            <a:r>
              <a:rPr kumimoji="0" lang="en-US" sz="1600" i="0" u="none" strike="noStrike" kern="0" cap="none" spc="0" normalizeH="0" baseline="0" noProof="0" dirty="0">
                <a:ln>
                  <a:noFill/>
                </a:ln>
                <a:solidFill>
                  <a:srgbClr val="000000"/>
                </a:solidFill>
                <a:effectLst/>
                <a:uLnTx/>
                <a:uFillTx/>
                <a:latin typeface="+mn-lt"/>
                <a:cs typeface="Calibri" pitchFamily="34" charset="0"/>
              </a:rPr>
              <a:t>			:  XXX</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err="1">
                <a:ln>
                  <a:noFill/>
                </a:ln>
                <a:solidFill>
                  <a:srgbClr val="000000"/>
                </a:solidFill>
                <a:effectLst/>
                <a:uLnTx/>
                <a:uFillTx/>
                <a:latin typeface="+mn-lt"/>
                <a:cs typeface="Calibri" pitchFamily="34" charset="0"/>
              </a:rPr>
              <a:t>Produk</a:t>
            </a:r>
            <a:r>
              <a:rPr kumimoji="0" lang="en-US" sz="1600" i="0" u="none" strike="noStrike" kern="0" cap="none" spc="0" normalizeH="0" baseline="0" noProof="0" dirty="0">
                <a:ln>
                  <a:noFill/>
                </a:ln>
                <a:solidFill>
                  <a:srgbClr val="000000"/>
                </a:solidFill>
                <a:effectLst/>
                <a:uLnTx/>
                <a:uFillTx/>
                <a:latin typeface="+mn-lt"/>
                <a:cs typeface="Calibri" pitchFamily="34" charset="0"/>
              </a:rPr>
              <a:t>			: - CPO (Crude Palm Oil)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mn-lt"/>
                <a:cs typeface="Calibri" pitchFamily="34" charset="0"/>
              </a:rPr>
              <a:t>		  	  - PK     (Palm Kernel)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mn-lt"/>
                <a:cs typeface="Calibri" pitchFamily="34" charset="0"/>
              </a:rPr>
              <a:t>Luas			: xxx Ha</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err="1">
                <a:ln>
                  <a:noFill/>
                </a:ln>
                <a:solidFill>
                  <a:srgbClr val="000000"/>
                </a:solidFill>
                <a:effectLst/>
                <a:uLnTx/>
                <a:uFillTx/>
                <a:latin typeface="+mn-lt"/>
                <a:cs typeface="Calibri" pitchFamily="34" charset="0"/>
              </a:rPr>
              <a:t>Jumlah</a:t>
            </a:r>
            <a:r>
              <a:rPr kumimoji="0" lang="en-US" sz="1600" i="0" u="none" strike="noStrike" kern="0" cap="none" spc="0" normalizeH="0" baseline="0" noProof="0" dirty="0">
                <a:ln>
                  <a:noFill/>
                </a:ln>
                <a:solidFill>
                  <a:srgbClr val="000000"/>
                </a:solidFill>
                <a:effectLst/>
                <a:uLnTx/>
                <a:uFillTx/>
                <a:latin typeface="+mn-lt"/>
                <a:cs typeface="Calibri" pitchFamily="34" charset="0"/>
              </a:rPr>
              <a:t> </a:t>
            </a:r>
            <a:r>
              <a:rPr kumimoji="0" lang="en-US" sz="1600" i="0" u="none" strike="noStrike" kern="0" cap="none" spc="0" normalizeH="0" baseline="0" noProof="0" dirty="0" err="1">
                <a:ln>
                  <a:noFill/>
                </a:ln>
                <a:solidFill>
                  <a:srgbClr val="000000"/>
                </a:solidFill>
                <a:effectLst/>
                <a:uLnTx/>
                <a:uFillTx/>
                <a:latin typeface="+mn-lt"/>
                <a:cs typeface="Calibri" pitchFamily="34" charset="0"/>
              </a:rPr>
              <a:t>Karyawan</a:t>
            </a:r>
            <a:r>
              <a:rPr kumimoji="0" lang="en-US" sz="1600" i="0" u="none" strike="noStrike" kern="0" cap="none" spc="0" normalizeH="0" baseline="0" noProof="0" dirty="0">
                <a:ln>
                  <a:noFill/>
                </a:ln>
                <a:solidFill>
                  <a:srgbClr val="000000"/>
                </a:solidFill>
                <a:effectLst/>
                <a:uLnTx/>
                <a:uFillTx/>
                <a:latin typeface="+mn-lt"/>
                <a:cs typeface="Calibri" pitchFamily="34" charset="0"/>
              </a:rPr>
              <a:t>		: xxx orang</a:t>
            </a:r>
            <a:endParaRPr kumimoji="0" lang="id-ID" sz="1600" i="0" u="none" strike="noStrike" kern="0" cap="none" spc="0" normalizeH="0" baseline="0" noProof="0" dirty="0">
              <a:ln>
                <a:noFill/>
              </a:ln>
              <a:solidFill>
                <a:srgbClr val="000000"/>
              </a:solidFill>
              <a:effectLst/>
              <a:uLnTx/>
              <a:uFillTx/>
              <a:latin typeface="+mn-lt"/>
              <a:cs typeface="Calibri" pitchFamily="34" charset="0"/>
            </a:endParaRPr>
          </a:p>
        </p:txBody>
      </p:sp>
      <p:sp>
        <p:nvSpPr>
          <p:cNvPr id="6" name="TextBox 5">
            <a:extLst>
              <a:ext uri="{FF2B5EF4-FFF2-40B4-BE49-F238E27FC236}">
                <a16:creationId xmlns:a16="http://schemas.microsoft.com/office/drawing/2014/main" id="{3A1C7B42-914F-A3F1-2AD7-C5EEA3282C4A}"/>
              </a:ext>
            </a:extLst>
          </p:cNvPr>
          <p:cNvSpPr txBox="1"/>
          <p:nvPr/>
        </p:nvSpPr>
        <p:spPr>
          <a:xfrm>
            <a:off x="234903" y="3275112"/>
            <a:ext cx="11845480" cy="307775"/>
          </a:xfrm>
          <a:prstGeom prst="rect">
            <a:avLst/>
          </a:prstGeom>
          <a:solidFill>
            <a:srgbClr val="005A95"/>
          </a:solidFill>
        </p:spPr>
        <p:txBody>
          <a:bodyPr wrap="square" lIns="91438" tIns="45719" rIns="91438" bIns="45719" rtlCol="0">
            <a:spAutoFit/>
          </a:bodyPr>
          <a:lstStyle/>
          <a:p>
            <a:pPr algn="ctr"/>
            <a:r>
              <a:rPr lang="en-US" sz="1400" b="1" dirty="0">
                <a:solidFill>
                  <a:schemeClr val="bg1"/>
                </a:solidFill>
                <a:latin typeface="+mn-lt"/>
              </a:rPr>
              <a:t>PRODUK KELAPA SAWIT</a:t>
            </a:r>
            <a:endParaRPr lang="id-ID" sz="1400" b="1" dirty="0">
              <a:solidFill>
                <a:schemeClr val="bg1"/>
              </a:solidFill>
              <a:latin typeface="+mn-lt"/>
            </a:endParaRPr>
          </a:p>
        </p:txBody>
      </p:sp>
      <p:pic>
        <p:nvPicPr>
          <p:cNvPr id="5" name="Picture 4">
            <a:extLst>
              <a:ext uri="{FF2B5EF4-FFF2-40B4-BE49-F238E27FC236}">
                <a16:creationId xmlns:a16="http://schemas.microsoft.com/office/drawing/2014/main" id="{B4C4F558-4AE0-2A65-0CD7-73D1C24B15B6}"/>
              </a:ext>
            </a:extLst>
          </p:cNvPr>
          <p:cNvPicPr>
            <a:picLocks noChangeAspect="1"/>
          </p:cNvPicPr>
          <p:nvPr/>
        </p:nvPicPr>
        <p:blipFill>
          <a:blip r:embed="rId2"/>
          <a:srcRect l="915" t="6829" r="1926"/>
          <a:stretch>
            <a:fillRect/>
          </a:stretch>
        </p:blipFill>
        <p:spPr>
          <a:xfrm>
            <a:off x="223233" y="3697677"/>
            <a:ext cx="11845481" cy="2964699"/>
          </a:xfrm>
          <a:prstGeom prst="rect">
            <a:avLst/>
          </a:prstGeom>
        </p:spPr>
      </p:pic>
    </p:spTree>
    <p:extLst>
      <p:ext uri="{BB962C8B-B14F-4D97-AF65-F5344CB8AC3E}">
        <p14:creationId xmlns:p14="http://schemas.microsoft.com/office/powerpoint/2010/main" val="356625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A67C8-C1F7-6853-EA42-9D0F64241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EE164-B5DF-8911-2A70-2883BC76E143}"/>
              </a:ext>
            </a:extLst>
          </p:cNvPr>
          <p:cNvSpPr txBox="1">
            <a:spLocks/>
          </p:cNvSpPr>
          <p:nvPr/>
        </p:nvSpPr>
        <p:spPr>
          <a:xfrm>
            <a:off x="3802643" y="454047"/>
            <a:ext cx="8305274" cy="589684"/>
          </a:xfrm>
          <a:prstGeom prst="rect">
            <a:avLst/>
          </a:prstGeom>
        </p:spPr>
        <p:txBody>
          <a:bodyPr>
            <a:normAutofit/>
          </a:bodyPr>
          <a:lstStyle>
            <a:lvl1pPr algn="l" defTabSz="914400" rtl="0" eaLnBrk="1" latinLnBrk="0" hangingPunct="1">
              <a:lnSpc>
                <a:spcPct val="90000"/>
              </a:lnSpc>
              <a:spcBef>
                <a:spcPct val="0"/>
              </a:spcBef>
              <a:buNone/>
              <a:defRPr sz="3200" kern="1200" baseline="0">
                <a:solidFill>
                  <a:schemeClr val="tx1"/>
                </a:solidFill>
                <a:latin typeface="Calibri" panose="020F0502020204030204" pitchFamily="34" charset="0"/>
                <a:ea typeface="+mj-ea"/>
                <a:cs typeface="+mj-cs"/>
              </a:defRPr>
            </a:lvl1pPr>
          </a:lstStyle>
          <a:p>
            <a:pPr algn="ctr"/>
            <a:r>
              <a:rPr lang="en-US" dirty="0"/>
              <a:t>PROFIL GRUP</a:t>
            </a:r>
          </a:p>
        </p:txBody>
      </p:sp>
      <p:cxnSp>
        <p:nvCxnSpPr>
          <p:cNvPr id="4" name="Straight Connector 3">
            <a:extLst>
              <a:ext uri="{FF2B5EF4-FFF2-40B4-BE49-F238E27FC236}">
                <a16:creationId xmlns:a16="http://schemas.microsoft.com/office/drawing/2014/main" id="{AD9195B1-C7A3-DA93-41BA-A6A4A2737664}"/>
              </a:ext>
            </a:extLst>
          </p:cNvPr>
          <p:cNvCxnSpPr>
            <a:cxnSpLocks/>
          </p:cNvCxnSpPr>
          <p:nvPr/>
        </p:nvCxnSpPr>
        <p:spPr>
          <a:xfrm>
            <a:off x="3802643" y="1311691"/>
            <a:ext cx="8389357" cy="0"/>
          </a:xfrm>
          <a:prstGeom prst="line">
            <a:avLst/>
          </a:prstGeom>
          <a:ln w="28575">
            <a:solidFill>
              <a:schemeClr val="bg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332ABD43-BD85-BEFA-90AB-0471A4FB1A44}"/>
              </a:ext>
            </a:extLst>
          </p:cNvPr>
          <p:cNvCxnSpPr>
            <a:cxnSpLocks/>
          </p:cNvCxnSpPr>
          <p:nvPr/>
        </p:nvCxnSpPr>
        <p:spPr>
          <a:xfrm>
            <a:off x="3802643" y="1043731"/>
            <a:ext cx="830527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10" name="Table 9">
            <a:extLst>
              <a:ext uri="{FF2B5EF4-FFF2-40B4-BE49-F238E27FC236}">
                <a16:creationId xmlns:a16="http://schemas.microsoft.com/office/drawing/2014/main" id="{EC7B766D-36E4-DE44-DF40-CCD0312F4EB3}"/>
              </a:ext>
            </a:extLst>
          </p:cNvPr>
          <p:cNvGraphicFramePr>
            <a:graphicFrameLocks noGrp="1"/>
          </p:cNvGraphicFramePr>
          <p:nvPr>
            <p:extLst>
              <p:ext uri="{D42A27DB-BD31-4B8C-83A1-F6EECF244321}">
                <p14:modId xmlns:p14="http://schemas.microsoft.com/office/powerpoint/2010/main" val="327067258"/>
              </p:ext>
            </p:extLst>
          </p:nvPr>
        </p:nvGraphicFramePr>
        <p:xfrm>
          <a:off x="297791" y="1160160"/>
          <a:ext cx="6784079" cy="4768877"/>
        </p:xfrm>
        <a:graphic>
          <a:graphicData uri="http://schemas.openxmlformats.org/drawingml/2006/table">
            <a:tbl>
              <a:tblPr firstRow="1" bandRow="1">
                <a:tableStyleId>{68D230F3-CF80-4859-8CE7-A43EE81993B5}</a:tableStyleId>
              </a:tblPr>
              <a:tblGrid>
                <a:gridCol w="1003094">
                  <a:extLst>
                    <a:ext uri="{9D8B030D-6E8A-4147-A177-3AD203B41FA5}">
                      <a16:colId xmlns:a16="http://schemas.microsoft.com/office/drawing/2014/main" val="1912165937"/>
                    </a:ext>
                  </a:extLst>
                </a:gridCol>
                <a:gridCol w="208280">
                  <a:extLst>
                    <a:ext uri="{9D8B030D-6E8A-4147-A177-3AD203B41FA5}">
                      <a16:colId xmlns:a16="http://schemas.microsoft.com/office/drawing/2014/main" val="739493235"/>
                    </a:ext>
                  </a:extLst>
                </a:gridCol>
                <a:gridCol w="627006">
                  <a:extLst>
                    <a:ext uri="{9D8B030D-6E8A-4147-A177-3AD203B41FA5}">
                      <a16:colId xmlns:a16="http://schemas.microsoft.com/office/drawing/2014/main" val="356708746"/>
                    </a:ext>
                  </a:extLst>
                </a:gridCol>
                <a:gridCol w="467666">
                  <a:extLst>
                    <a:ext uri="{9D8B030D-6E8A-4147-A177-3AD203B41FA5}">
                      <a16:colId xmlns:a16="http://schemas.microsoft.com/office/drawing/2014/main" val="2762673741"/>
                    </a:ext>
                  </a:extLst>
                </a:gridCol>
                <a:gridCol w="4478033">
                  <a:extLst>
                    <a:ext uri="{9D8B030D-6E8A-4147-A177-3AD203B41FA5}">
                      <a16:colId xmlns:a16="http://schemas.microsoft.com/office/drawing/2014/main" val="1249775533"/>
                    </a:ext>
                  </a:extLst>
                </a:gridCol>
              </a:tblGrid>
              <a:tr h="615316">
                <a:tc gridSpan="4">
                  <a:txBody>
                    <a:bodyPr/>
                    <a:lstStyle/>
                    <a:p>
                      <a:r>
                        <a:rPr lang="en-US" sz="2400" dirty="0" err="1"/>
                        <a:t>LaSak</a:t>
                      </a:r>
                      <a:endParaRPr lang="en-US" sz="2400" dirty="0"/>
                    </a:p>
                    <a:p>
                      <a:r>
                        <a:rPr lang="en-US" sz="1200" dirty="0"/>
                        <a:t>(Lacak </a:t>
                      </a:r>
                      <a:r>
                        <a:rPr lang="en-US" sz="1200" dirty="0" err="1"/>
                        <a:t>Sawit</a:t>
                      </a:r>
                      <a:r>
                        <a:rPr lang="en-US" sz="1200" dirty="0"/>
                        <a:t> </a:t>
                      </a:r>
                      <a:r>
                        <a:rPr lang="en-US" sz="1200" dirty="0" err="1"/>
                        <a:t>Berkelanjutan</a:t>
                      </a:r>
                      <a:r>
                        <a:rPr lang="en-US" sz="1200" dirty="0"/>
                        <a:t>)</a:t>
                      </a:r>
                    </a:p>
                  </a:txBody>
                  <a:tcP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en-US"/>
                    </a:p>
                  </a:txBody>
                  <a:tcPr/>
                </a:tc>
                <a:tc hMerge="1">
                  <a:txBody>
                    <a:bodyPr/>
                    <a:lstStyle/>
                    <a:p>
                      <a:endParaRPr lang="en-US" dirty="0"/>
                    </a:p>
                  </a:txBody>
                  <a:tcPr>
                    <a:solidFill>
                      <a:schemeClr val="accent6">
                        <a:lumMod val="20000"/>
                        <a:lumOff val="80000"/>
                      </a:schemeClr>
                    </a:solidFill>
                  </a:tcPr>
                </a:tc>
                <a:tc hMerge="1">
                  <a:txBody>
                    <a:bodyPr/>
                    <a:lstStyle/>
                    <a:p>
                      <a:endParaRPr lang="en-US" sz="1200" dirty="0"/>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dirty="0"/>
                    </a:p>
                  </a:txBody>
                  <a:tcP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574752478"/>
                  </a:ext>
                </a:extLst>
              </a:tr>
              <a:tr h="415133">
                <a:tc>
                  <a:txBody>
                    <a:bodyPr/>
                    <a:lstStyle/>
                    <a:p>
                      <a:r>
                        <a:rPr lang="en-US" sz="1200" dirty="0">
                          <a:latin typeface="+mn-lt"/>
                        </a:rPr>
                        <a:t>Terbentuk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2 November 2025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3036535"/>
                  </a:ext>
                </a:extLst>
              </a:tr>
              <a:tr h="439512">
                <a:tc>
                  <a:txBody>
                    <a:bodyPr/>
                    <a:lstStyle/>
                    <a:p>
                      <a:r>
                        <a:rPr lang="en-US" sz="1200" dirty="0">
                          <a:latin typeface="+mn-lt"/>
                        </a:rPr>
                        <a:t>Departemen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Survey HO dan Marketing Site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3892998"/>
                  </a:ext>
                </a:extLst>
              </a:tr>
              <a:tr h="439512">
                <a:tc>
                  <a:txBody>
                    <a:bodyPr/>
                    <a:lstStyle/>
                    <a:p>
                      <a:r>
                        <a:rPr lang="en-US" sz="1200" dirty="0">
                          <a:latin typeface="+mn-lt"/>
                        </a:rPr>
                        <a:t>Tema </a:t>
                      </a:r>
                      <a:r>
                        <a:rPr lang="en-US" sz="1200" dirty="0" err="1">
                          <a:latin typeface="+mn-lt"/>
                        </a:rPr>
                        <a:t>Selesai</a:t>
                      </a:r>
                      <a:endParaRPr lang="en-US" sz="1200" dirty="0">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5509580"/>
                  </a:ext>
                </a:extLst>
              </a:tr>
              <a:tr h="415133">
                <a:tc rowSpan="4">
                  <a:txBody>
                    <a:bodyPr/>
                    <a:lstStyle/>
                    <a:p>
                      <a:r>
                        <a:rPr lang="en-US" sz="1100" dirty="0" err="1">
                          <a:latin typeface="+mn-lt"/>
                        </a:rPr>
                        <a:t>Prestasi</a:t>
                      </a:r>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a:latin typeface="+mn-lt"/>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a:latin typeface="+mn-lt"/>
                        </a:rPr>
                        <a:t>4 Star Award. The 30</a:t>
                      </a:r>
                      <a:r>
                        <a:rPr lang="en-US" sz="1100" baseline="30000" dirty="0">
                          <a:latin typeface="+mn-lt"/>
                        </a:rPr>
                        <a:t>th</a:t>
                      </a:r>
                      <a:r>
                        <a:rPr lang="en-US" sz="1100" dirty="0">
                          <a:latin typeface="+mn-lt"/>
                        </a:rPr>
                        <a:t> APQO International Conference, Beijing – China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a:latin typeface="+mn-lt"/>
                        </a:rPr>
                        <a:t>Silver Award, International Conference on Quality 2025, Tokyo - </a:t>
                      </a:r>
                      <a:r>
                        <a:rPr lang="en-US" sz="1100" dirty="0" err="1">
                          <a:latin typeface="+mn-lt"/>
                        </a:rPr>
                        <a:t>Jepang</a:t>
                      </a:r>
                      <a:endParaRPr lang="en-US" sz="1100" dirty="0">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a:latin typeface="+mn-lt"/>
                        </a:rPr>
                        <a:t>4 Star Award. The 30</a:t>
                      </a:r>
                      <a:r>
                        <a:rPr lang="en-US" sz="1200" baseline="30000" dirty="0">
                          <a:latin typeface="+mn-lt"/>
                        </a:rPr>
                        <a:t>th</a:t>
                      </a:r>
                      <a:r>
                        <a:rPr lang="en-US" sz="1200" dirty="0">
                          <a:latin typeface="+mn-lt"/>
                        </a:rPr>
                        <a:t> APQO International Conference, Beijing – China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a:latin typeface="+mn-lt"/>
                        </a:rPr>
                        <a:t>Silver Award, International Conference on Quality 2025, Tokyo - </a:t>
                      </a:r>
                      <a:r>
                        <a:rPr lang="en-US" sz="1200" dirty="0" err="1">
                          <a:latin typeface="+mn-lt"/>
                        </a:rPr>
                        <a:t>Jepang</a:t>
                      </a:r>
                      <a:endParaRPr lang="en-US" sz="12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4715728"/>
                  </a:ext>
                </a:extLst>
              </a:tr>
              <a:tr h="893673">
                <a:tc v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285750" indent="-285750">
                        <a:buFont typeface="Wingdings" panose="05000000000000000000" pitchFamily="2" charset="2"/>
                        <a:buChar char="ü"/>
                      </a:pPr>
                      <a:r>
                        <a:rPr lang="en-US" sz="1100" dirty="0">
                          <a:latin typeface="+mn-lt"/>
                        </a:rPr>
                        <a:t>Excellent &amp; Best Innovation, International Quality &amp; Productivity Convention, Manila – Pilipina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a:latin typeface="+mn-lt"/>
                        </a:rPr>
                        <a:t>Diamond Award, TKMPN XXVIII, Bali</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2 Support Operation, TIF-19</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2 PPS 2.0, TIFA XIII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indent="-285750">
                        <a:buFont typeface="Wingdings" panose="05000000000000000000" pitchFamily="2" charset="2"/>
                        <a:buChar char="ü"/>
                      </a:pPr>
                      <a:r>
                        <a:rPr lang="en-US" sz="1200" dirty="0">
                          <a:latin typeface="+mn-lt"/>
                        </a:rPr>
                        <a:t>Excellent &amp; Best Innovation, International Quality &amp; Productivity Convention , Manila – Pilipina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a:latin typeface="+mn-lt"/>
                        </a:rPr>
                        <a:t>Diamond Award, TKMPN XXVIII, Bali</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2 Support Operation, TIF-19</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2 PPS 2.0, TIFA XIII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8879371"/>
                  </a:ext>
                </a:extLst>
              </a:tr>
              <a:tr h="581186">
                <a:tc v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285750" indent="-285750">
                        <a:buFont typeface="Wingdings" panose="05000000000000000000" pitchFamily="2" charset="2"/>
                        <a:buChar char="ü"/>
                      </a:pPr>
                      <a:r>
                        <a:rPr lang="en-US" sz="1100" dirty="0">
                          <a:latin typeface="+mn-lt"/>
                        </a:rPr>
                        <a:t>Platinum Award. TKMPN XXVII, Jogjakarta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3 PPS 2.0. TIF-18</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100" dirty="0" err="1">
                          <a:latin typeface="+mn-lt"/>
                        </a:rPr>
                        <a:t>Juara</a:t>
                      </a:r>
                      <a:r>
                        <a:rPr lang="en-US" sz="1100" dirty="0">
                          <a:latin typeface="+mn-lt"/>
                        </a:rPr>
                        <a:t> 1 PPS 2.0, TIFA XII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indent="-285750">
                        <a:buFont typeface="Wingdings" panose="05000000000000000000" pitchFamily="2" charset="2"/>
                        <a:buChar char="ü"/>
                      </a:pPr>
                      <a:r>
                        <a:rPr lang="en-US" sz="1200" dirty="0">
                          <a:latin typeface="+mn-lt"/>
                        </a:rPr>
                        <a:t>Platinum Award. TKMPN XXVII, Jogjakarta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3 PPS 2.0. TIF-18</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200" dirty="0" err="1">
                          <a:latin typeface="+mn-lt"/>
                        </a:rPr>
                        <a:t>Juara</a:t>
                      </a:r>
                      <a:r>
                        <a:rPr lang="en-US" sz="1200" dirty="0">
                          <a:latin typeface="+mn-lt"/>
                        </a:rPr>
                        <a:t> 1 PPS 2.0, TIFA XII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3326527"/>
                  </a:ext>
                </a:extLst>
              </a:tr>
              <a:tr h="415133">
                <a:tc vMerge="1">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1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100" dirty="0" err="1">
                          <a:latin typeface="+mn-lt"/>
                        </a:rPr>
                        <a:t>Tahun</a:t>
                      </a:r>
                      <a:r>
                        <a:rPr lang="en-US" sz="1100" dirty="0">
                          <a:latin typeface="+mn-lt"/>
                        </a:rPr>
                        <a:t> 2022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US" sz="1100" dirty="0" err="1">
                          <a:latin typeface="+mn-lt"/>
                        </a:rPr>
                        <a:t>Juara</a:t>
                      </a:r>
                      <a:r>
                        <a:rPr lang="en-US" sz="1100" dirty="0">
                          <a:latin typeface="+mn-lt"/>
                        </a:rPr>
                        <a:t> 1 PPS 2.0. TIFA XI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285750" indent="-285750">
                        <a:buFont typeface="Wingdings" panose="05000000000000000000" pitchFamily="2" charset="2"/>
                        <a:buChar char="ü"/>
                      </a:pPr>
                      <a:r>
                        <a:rPr lang="en-US" sz="1200" dirty="0" err="1">
                          <a:latin typeface="+mn-lt"/>
                        </a:rPr>
                        <a:t>Juara</a:t>
                      </a:r>
                      <a:r>
                        <a:rPr lang="en-US" sz="1200" dirty="0">
                          <a:latin typeface="+mn-lt"/>
                        </a:rPr>
                        <a:t> 1 PPS 2.0. TIFA XI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48185656"/>
                  </a:ext>
                </a:extLst>
              </a:tr>
              <a:tr h="439512">
                <a:tc>
                  <a:txBody>
                    <a:bodyPr/>
                    <a:lstStyle/>
                    <a:p>
                      <a:r>
                        <a:rPr lang="en-US" sz="1200" dirty="0" err="1">
                          <a:latin typeface="+mn-lt"/>
                        </a:rPr>
                        <a:t>Jumlah</a:t>
                      </a:r>
                      <a:r>
                        <a:rPr lang="en-US" sz="1200" dirty="0">
                          <a:latin typeface="+mn-lt"/>
                        </a:rPr>
                        <a:t> </a:t>
                      </a:r>
                      <a:r>
                        <a:rPr lang="en-US" sz="1200" dirty="0" err="1">
                          <a:latin typeface="+mn-lt"/>
                        </a:rPr>
                        <a:t>pertemuan</a:t>
                      </a:r>
                      <a:endParaRPr lang="en-US" sz="1200" dirty="0">
                        <a:latin typeface="+mn-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dirty="0">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r>
                        <a:rPr lang="en-US" sz="1200" dirty="0">
                          <a:latin typeface="+mn-lt"/>
                        </a:rPr>
                        <a:t>4 Kali (on progress) ~ 100 %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hMerge="1">
                  <a:txBody>
                    <a:bodyPr/>
                    <a:lstStyle/>
                    <a:p>
                      <a:pPr marL="285750" indent="-285750">
                        <a:buFont typeface="Wingdings" panose="05000000000000000000" pitchFamily="2" charset="2"/>
                        <a:buChar char="ü"/>
                      </a:pPr>
                      <a:endParaRPr 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8030413"/>
                  </a:ext>
                </a:extLst>
              </a:tr>
            </a:tbl>
          </a:graphicData>
        </a:graphic>
      </p:graphicFrame>
      <p:graphicFrame>
        <p:nvGraphicFramePr>
          <p:cNvPr id="12" name="Table 11">
            <a:extLst>
              <a:ext uri="{FF2B5EF4-FFF2-40B4-BE49-F238E27FC236}">
                <a16:creationId xmlns:a16="http://schemas.microsoft.com/office/drawing/2014/main" id="{0C1657FB-077E-9722-192F-AE560342B096}"/>
              </a:ext>
            </a:extLst>
          </p:cNvPr>
          <p:cNvGraphicFramePr>
            <a:graphicFrameLocks noGrp="1"/>
          </p:cNvGraphicFramePr>
          <p:nvPr>
            <p:extLst>
              <p:ext uri="{D42A27DB-BD31-4B8C-83A1-F6EECF244321}">
                <p14:modId xmlns:p14="http://schemas.microsoft.com/office/powerpoint/2010/main" val="1658175004"/>
              </p:ext>
            </p:extLst>
          </p:nvPr>
        </p:nvGraphicFramePr>
        <p:xfrm>
          <a:off x="9377327" y="1159978"/>
          <a:ext cx="2194562" cy="929640"/>
        </p:xfrm>
        <a:graphic>
          <a:graphicData uri="http://schemas.openxmlformats.org/drawingml/2006/table">
            <a:tbl>
              <a:tblPr firstRow="1" bandRow="1">
                <a:tableStyleId>{5C22544A-7EE6-4342-B048-85BDC9FD1C3A}</a:tableStyleId>
              </a:tblPr>
              <a:tblGrid>
                <a:gridCol w="800890">
                  <a:extLst>
                    <a:ext uri="{9D8B030D-6E8A-4147-A177-3AD203B41FA5}">
                      <a16:colId xmlns:a16="http://schemas.microsoft.com/office/drawing/2014/main" val="307707419"/>
                    </a:ext>
                  </a:extLst>
                </a:gridCol>
                <a:gridCol w="1393672">
                  <a:extLst>
                    <a:ext uri="{9D8B030D-6E8A-4147-A177-3AD203B41FA5}">
                      <a16:colId xmlns:a16="http://schemas.microsoft.com/office/drawing/2014/main" val="4065649630"/>
                    </a:ext>
                  </a:extLst>
                </a:gridCol>
              </a:tblGrid>
              <a:tr h="265331">
                <a:tc rowSpan="2">
                  <a:txBody>
                    <a:bodyPr/>
                    <a:lstStyle/>
                    <a:p>
                      <a:endParaRPr lang="en-US" sz="1100" dirty="0"/>
                    </a:p>
                    <a:p>
                      <a:endParaRPr lang="en-US" sz="1100" dirty="0"/>
                    </a:p>
                    <a:p>
                      <a:endParaRPr lang="en-US" sz="1100" dirty="0"/>
                    </a:p>
                    <a:p>
                      <a:endParaRPr lang="en-US" sz="1100" dirty="0"/>
                    </a:p>
                    <a:p>
                      <a:endParaRPr lang="en-US" sz="11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tc>
                  <a:txBody>
                    <a:bodyPr/>
                    <a:lstStyle/>
                    <a:p>
                      <a:pPr algn="ctr"/>
                      <a:r>
                        <a:rPr lang="en-US" sz="1200" dirty="0">
                          <a:solidFill>
                            <a:schemeClr val="tx1"/>
                          </a:solidFill>
                        </a:rPr>
                        <a:t>FASILITATOR</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extLst>
                  <a:ext uri="{0D108BD9-81ED-4DB2-BD59-A6C34878D82A}">
                    <a16:rowId xmlns:a16="http://schemas.microsoft.com/office/drawing/2014/main" val="4198278792"/>
                  </a:ext>
                </a:extLst>
              </a:tr>
              <a:tr h="548349">
                <a:tc vMerge="1">
                  <a:txBody>
                    <a:bodyPr/>
                    <a:lstStyle/>
                    <a:p>
                      <a:endParaRPr lang="en-US" sz="1400" dirty="0"/>
                    </a:p>
                  </a:txBody>
                  <a:tcPr/>
                </a:tc>
                <a:tc>
                  <a:txBody>
                    <a:bodyPr/>
                    <a:lstStyle/>
                    <a:p>
                      <a:r>
                        <a:rPr lang="en-US" sz="1100" dirty="0" err="1"/>
                        <a:t>Yanuar</a:t>
                      </a:r>
                      <a:r>
                        <a:rPr lang="en-US" sz="1100" dirty="0"/>
                        <a:t> A.B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(GIS Dept. Head)</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894139"/>
                  </a:ext>
                </a:extLst>
              </a:tr>
            </a:tbl>
          </a:graphicData>
        </a:graphic>
      </p:graphicFrame>
      <p:graphicFrame>
        <p:nvGraphicFramePr>
          <p:cNvPr id="3" name="Table 2">
            <a:extLst>
              <a:ext uri="{FF2B5EF4-FFF2-40B4-BE49-F238E27FC236}">
                <a16:creationId xmlns:a16="http://schemas.microsoft.com/office/drawing/2014/main" id="{85C7E924-210A-9612-DBEC-9870ADAB1672}"/>
              </a:ext>
            </a:extLst>
          </p:cNvPr>
          <p:cNvGraphicFramePr>
            <a:graphicFrameLocks noGrp="1"/>
          </p:cNvGraphicFramePr>
          <p:nvPr>
            <p:extLst>
              <p:ext uri="{D42A27DB-BD31-4B8C-83A1-F6EECF244321}">
                <p14:modId xmlns:p14="http://schemas.microsoft.com/office/powerpoint/2010/main" val="3397613081"/>
              </p:ext>
            </p:extLst>
          </p:nvPr>
        </p:nvGraphicFramePr>
        <p:xfrm>
          <a:off x="9377327" y="2357577"/>
          <a:ext cx="2194562" cy="929640"/>
        </p:xfrm>
        <a:graphic>
          <a:graphicData uri="http://schemas.openxmlformats.org/drawingml/2006/table">
            <a:tbl>
              <a:tblPr firstRow="1" bandRow="1">
                <a:tableStyleId>{5C22544A-7EE6-4342-B048-85BDC9FD1C3A}</a:tableStyleId>
              </a:tblPr>
              <a:tblGrid>
                <a:gridCol w="779886">
                  <a:extLst>
                    <a:ext uri="{9D8B030D-6E8A-4147-A177-3AD203B41FA5}">
                      <a16:colId xmlns:a16="http://schemas.microsoft.com/office/drawing/2014/main" val="307707419"/>
                    </a:ext>
                  </a:extLst>
                </a:gridCol>
                <a:gridCol w="1414676">
                  <a:extLst>
                    <a:ext uri="{9D8B030D-6E8A-4147-A177-3AD203B41FA5}">
                      <a16:colId xmlns:a16="http://schemas.microsoft.com/office/drawing/2014/main" val="4065649630"/>
                    </a:ext>
                  </a:extLst>
                </a:gridCol>
              </a:tblGrid>
              <a:tr h="303143">
                <a:tc rowSpan="2">
                  <a:txBody>
                    <a:bodyPr/>
                    <a:lstStyle/>
                    <a:p>
                      <a:endParaRPr lang="en-US" sz="1100" dirty="0"/>
                    </a:p>
                    <a:p>
                      <a:endParaRPr lang="en-US" sz="1100" dirty="0"/>
                    </a:p>
                    <a:p>
                      <a:endParaRPr lang="en-US" sz="1100" dirty="0"/>
                    </a:p>
                    <a:p>
                      <a:endParaRPr lang="en-US" sz="1100" dirty="0"/>
                    </a:p>
                    <a:p>
                      <a:endParaRPr lang="en-US" sz="11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tc>
                  <a:txBody>
                    <a:bodyPr/>
                    <a:lstStyle/>
                    <a:p>
                      <a:pPr algn="ctr"/>
                      <a:r>
                        <a:rPr lang="en-US" sz="1200" dirty="0">
                          <a:solidFill>
                            <a:schemeClr val="tx1"/>
                          </a:solidFill>
                        </a:rPr>
                        <a:t>PROJECT LEADER</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extLst>
                  <a:ext uri="{0D108BD9-81ED-4DB2-BD59-A6C34878D82A}">
                    <a16:rowId xmlns:a16="http://schemas.microsoft.com/office/drawing/2014/main" val="4198278792"/>
                  </a:ext>
                </a:extLst>
              </a:tr>
              <a:tr h="469203">
                <a:tc vMerge="1">
                  <a:txBody>
                    <a:bodyPr/>
                    <a:lstStyle/>
                    <a:p>
                      <a:endParaRPr lang="en-US" sz="1400" dirty="0"/>
                    </a:p>
                  </a:txBody>
                  <a:tcPr/>
                </a:tc>
                <a:tc>
                  <a:txBody>
                    <a:bodyPr/>
                    <a:lstStyle/>
                    <a:p>
                      <a:r>
                        <a:rPr lang="en-US" sz="1100" dirty="0" err="1"/>
                        <a:t>Aulia</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(Survey Traceability)</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894139"/>
                  </a:ext>
                </a:extLst>
              </a:tr>
            </a:tbl>
          </a:graphicData>
        </a:graphic>
      </p:graphicFrame>
      <p:graphicFrame>
        <p:nvGraphicFramePr>
          <p:cNvPr id="5" name="Table 4">
            <a:extLst>
              <a:ext uri="{FF2B5EF4-FFF2-40B4-BE49-F238E27FC236}">
                <a16:creationId xmlns:a16="http://schemas.microsoft.com/office/drawing/2014/main" id="{0EFDFF2E-ACA4-D8AC-FFD7-7C00D8407CA2}"/>
              </a:ext>
            </a:extLst>
          </p:cNvPr>
          <p:cNvGraphicFramePr>
            <a:graphicFrameLocks noGrp="1"/>
          </p:cNvGraphicFramePr>
          <p:nvPr>
            <p:extLst>
              <p:ext uri="{D42A27DB-BD31-4B8C-83A1-F6EECF244321}">
                <p14:modId xmlns:p14="http://schemas.microsoft.com/office/powerpoint/2010/main" val="3019696907"/>
              </p:ext>
            </p:extLst>
          </p:nvPr>
        </p:nvGraphicFramePr>
        <p:xfrm>
          <a:off x="9997438" y="3429000"/>
          <a:ext cx="2194562" cy="929640"/>
        </p:xfrm>
        <a:graphic>
          <a:graphicData uri="http://schemas.openxmlformats.org/drawingml/2006/table">
            <a:tbl>
              <a:tblPr firstRow="1" bandRow="1">
                <a:tableStyleId>{5C22544A-7EE6-4342-B048-85BDC9FD1C3A}</a:tableStyleId>
              </a:tblPr>
              <a:tblGrid>
                <a:gridCol w="779886">
                  <a:extLst>
                    <a:ext uri="{9D8B030D-6E8A-4147-A177-3AD203B41FA5}">
                      <a16:colId xmlns:a16="http://schemas.microsoft.com/office/drawing/2014/main" val="307707419"/>
                    </a:ext>
                  </a:extLst>
                </a:gridCol>
                <a:gridCol w="1414676">
                  <a:extLst>
                    <a:ext uri="{9D8B030D-6E8A-4147-A177-3AD203B41FA5}">
                      <a16:colId xmlns:a16="http://schemas.microsoft.com/office/drawing/2014/main" val="4065649630"/>
                    </a:ext>
                  </a:extLst>
                </a:gridCol>
              </a:tblGrid>
              <a:tr h="303143">
                <a:tc rowSpan="2">
                  <a:txBody>
                    <a:bodyPr/>
                    <a:lstStyle/>
                    <a:p>
                      <a:endParaRPr lang="en-US" sz="1100" dirty="0"/>
                    </a:p>
                    <a:p>
                      <a:endParaRPr lang="en-US" sz="1100" dirty="0"/>
                    </a:p>
                    <a:p>
                      <a:endParaRPr lang="en-US" sz="1100" dirty="0"/>
                    </a:p>
                    <a:p>
                      <a:endParaRPr lang="en-US" sz="1100" dirty="0"/>
                    </a:p>
                    <a:p>
                      <a:endParaRPr lang="en-US" sz="11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tc>
                  <a:txBody>
                    <a:bodyPr/>
                    <a:lstStyle/>
                    <a:p>
                      <a:pPr algn="ctr"/>
                      <a:r>
                        <a:rPr lang="en-US" sz="1200" dirty="0">
                          <a:solidFill>
                            <a:schemeClr val="tx1"/>
                          </a:solidFill>
                        </a:rPr>
                        <a:t>NOTULEN</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2F0D9"/>
                    </a:solidFill>
                  </a:tcPr>
                </a:tc>
                <a:extLst>
                  <a:ext uri="{0D108BD9-81ED-4DB2-BD59-A6C34878D82A}">
                    <a16:rowId xmlns:a16="http://schemas.microsoft.com/office/drawing/2014/main" val="4198278792"/>
                  </a:ext>
                </a:extLst>
              </a:tr>
              <a:tr h="469203">
                <a:tc vMerge="1">
                  <a:txBody>
                    <a:bodyPr/>
                    <a:lstStyle/>
                    <a:p>
                      <a:endParaRPr lang="en-US" sz="1400" dirty="0"/>
                    </a:p>
                  </a:txBody>
                  <a:tcPr/>
                </a:tc>
                <a:tc>
                  <a:txBody>
                    <a:bodyPr/>
                    <a:lstStyle/>
                    <a:p>
                      <a:r>
                        <a:rPr lang="en-US" sz="1100" dirty="0" err="1"/>
                        <a:t>Hastuti</a:t>
                      </a:r>
                      <a:r>
                        <a:rPr lang="en-US" sz="1100"/>
                        <a:t> </a:t>
                      </a:r>
                      <a:endParaRPr lang="en-US" sz="11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(Survey Traceability)</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894139"/>
                  </a:ext>
                </a:extLst>
              </a:tr>
            </a:tbl>
          </a:graphicData>
        </a:graphic>
      </p:graphicFrame>
    </p:spTree>
    <p:extLst>
      <p:ext uri="{BB962C8B-B14F-4D97-AF65-F5344CB8AC3E}">
        <p14:creationId xmlns:p14="http://schemas.microsoft.com/office/powerpoint/2010/main" val="3632455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B344-64A3-EF8B-A749-67391BD4EE63}"/>
              </a:ext>
            </a:extLst>
          </p:cNvPr>
          <p:cNvSpPr>
            <a:spLocks noGrp="1"/>
          </p:cNvSpPr>
          <p:nvPr>
            <p:ph type="title"/>
          </p:nvPr>
        </p:nvSpPr>
        <p:spPr/>
        <p:txBody>
          <a:bodyPr/>
          <a:lstStyle/>
          <a:p>
            <a:endParaRPr lang="en-US"/>
          </a:p>
        </p:txBody>
      </p:sp>
      <p:graphicFrame>
        <p:nvGraphicFramePr>
          <p:cNvPr id="5" name="Table 4">
            <a:extLst>
              <a:ext uri="{FF2B5EF4-FFF2-40B4-BE49-F238E27FC236}">
                <a16:creationId xmlns:a16="http://schemas.microsoft.com/office/drawing/2014/main" id="{D603F417-BDE9-2A51-D895-61FCD57B6DB4}"/>
              </a:ext>
            </a:extLst>
          </p:cNvPr>
          <p:cNvGraphicFramePr>
            <a:graphicFrameLocks noGrp="1"/>
          </p:cNvGraphicFramePr>
          <p:nvPr>
            <p:extLst>
              <p:ext uri="{D42A27DB-BD31-4B8C-83A1-F6EECF244321}">
                <p14:modId xmlns:p14="http://schemas.microsoft.com/office/powerpoint/2010/main" val="1824925806"/>
              </p:ext>
            </p:extLst>
          </p:nvPr>
        </p:nvGraphicFramePr>
        <p:xfrm>
          <a:off x="449149" y="1542290"/>
          <a:ext cx="8971747" cy="2499360"/>
        </p:xfrm>
        <a:graphic>
          <a:graphicData uri="http://schemas.openxmlformats.org/drawingml/2006/table">
            <a:tbl>
              <a:tblPr firstRow="1" bandRow="1">
                <a:tableStyleId>{68D230F3-CF80-4859-8CE7-A43EE81993B5}</a:tableStyleId>
              </a:tblPr>
              <a:tblGrid>
                <a:gridCol w="1295938">
                  <a:extLst>
                    <a:ext uri="{9D8B030D-6E8A-4147-A177-3AD203B41FA5}">
                      <a16:colId xmlns:a16="http://schemas.microsoft.com/office/drawing/2014/main" val="232597012"/>
                    </a:ext>
                  </a:extLst>
                </a:gridCol>
                <a:gridCol w="7675809">
                  <a:extLst>
                    <a:ext uri="{9D8B030D-6E8A-4147-A177-3AD203B41FA5}">
                      <a16:colId xmlns:a16="http://schemas.microsoft.com/office/drawing/2014/main" val="1685957260"/>
                    </a:ext>
                  </a:extLst>
                </a:gridCol>
              </a:tblGrid>
              <a:tr h="386456">
                <a:tc>
                  <a:txBody>
                    <a:bodyPr/>
                    <a:lstStyle/>
                    <a:p>
                      <a:r>
                        <a:rPr lang="en-US" sz="1400" dirty="0" err="1"/>
                        <a:t>Tahun</a:t>
                      </a:r>
                      <a:r>
                        <a:rPr lang="en-US" sz="1400" dirty="0"/>
                        <a:t>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t>4 Star Award. The 30</a:t>
                      </a:r>
                      <a:r>
                        <a:rPr lang="en-US" sz="1400" baseline="30000" dirty="0"/>
                        <a:t>th</a:t>
                      </a:r>
                      <a:r>
                        <a:rPr lang="en-US" sz="1400" dirty="0"/>
                        <a:t> APQO International Conference, Beijing – China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t>Silver Award, International Conference on Quality 2025, Tokyo - </a:t>
                      </a:r>
                      <a:r>
                        <a:rPr lang="en-US" sz="1400" dirty="0" err="1"/>
                        <a:t>Jepang</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3258458"/>
                  </a:ext>
                </a:extLst>
              </a:tr>
              <a:tr h="0">
                <a:tc>
                  <a:txBody>
                    <a:bodyPr/>
                    <a:lstStyle/>
                    <a:p>
                      <a:r>
                        <a:rPr lang="en-US" sz="1400" dirty="0" err="1"/>
                        <a:t>Tahun</a:t>
                      </a:r>
                      <a:r>
                        <a:rPr lang="en-US" sz="1400" dirty="0"/>
                        <a:t> 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ü"/>
                      </a:pPr>
                      <a:r>
                        <a:rPr lang="en-US" sz="1400" dirty="0"/>
                        <a:t>Excellent &amp; Best Innovation, International Quality &amp; Productivity Convention , Manila – Pilipina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a:t>Diamond Award, TKMPN XXVIII, Bali</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2 Support Operation, TIF-19</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2 PPS 2.0, TIFA XIII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1602426"/>
                  </a:ext>
                </a:extLst>
              </a:tr>
              <a:tr h="386456">
                <a:tc>
                  <a:txBody>
                    <a:bodyPr/>
                    <a:lstStyle/>
                    <a:p>
                      <a:r>
                        <a:rPr lang="en-US" sz="1400" dirty="0" err="1"/>
                        <a:t>Tahun</a:t>
                      </a:r>
                      <a:r>
                        <a:rPr lang="en-US" sz="1400" dirty="0"/>
                        <a:t> 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ü"/>
                      </a:pPr>
                      <a:r>
                        <a:rPr lang="en-US" sz="1400" dirty="0"/>
                        <a:t>Platinum Award. TKMPN XXVII, Jogjakarta</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3 PPS 2.0. TIF-18</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400" dirty="0" err="1"/>
                        <a:t>Juara</a:t>
                      </a:r>
                      <a:r>
                        <a:rPr lang="en-US" sz="1400" dirty="0"/>
                        <a:t> 1 PPS 2.0, TIFA XII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9437814"/>
                  </a:ext>
                </a:extLst>
              </a:tr>
              <a:tr h="297500">
                <a:tc>
                  <a:txBody>
                    <a:bodyPr/>
                    <a:lstStyle/>
                    <a:p>
                      <a:r>
                        <a:rPr lang="en-US" sz="1400" dirty="0" err="1"/>
                        <a:t>Tahun</a:t>
                      </a:r>
                      <a:r>
                        <a:rPr lang="en-US" sz="1400" dirty="0"/>
                        <a:t>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ü"/>
                      </a:pPr>
                      <a:r>
                        <a:rPr lang="en-US" sz="1400" dirty="0" err="1"/>
                        <a:t>Juara</a:t>
                      </a:r>
                      <a:r>
                        <a:rPr lang="en-US" sz="1400" dirty="0"/>
                        <a:t> 1 PPS 2.0. TIFA XI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88363310"/>
                  </a:ext>
                </a:extLst>
              </a:tr>
            </a:tbl>
          </a:graphicData>
        </a:graphic>
      </p:graphicFrame>
    </p:spTree>
    <p:extLst>
      <p:ext uri="{BB962C8B-B14F-4D97-AF65-F5344CB8AC3E}">
        <p14:creationId xmlns:p14="http://schemas.microsoft.com/office/powerpoint/2010/main" val="2445612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839C-6D74-DFB6-4876-A0E37EF6A7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52A19C-C00E-7869-4E89-0B0D3BED7B1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1206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86"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F98491D-4635-4307-9631-17660FBEB47E}">
  <we:reference id="wa200010001" version="1.0.0.0" store="en-US" storeType="OMEX"/>
  <we:alternateReferences>
    <we:reference id="wa200010001" version="1.0.0.0" store="wa200010001" storeType="OMEX"/>
  </we:alternateReferences>
  <we:properties>
    <we:property name="claude.fileId" value="&quot;076b6b84-a7cd-474f-a745-1cc6de46225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5835</TotalTime>
  <Words>603</Words>
  <Application>Microsoft Office PowerPoint</Application>
  <PresentationFormat>Widescreen</PresentationFormat>
  <Paragraphs>98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Montserrat</vt:lpstr>
      <vt:lpstr>Wingdings</vt:lpstr>
      <vt:lpstr>Office Theme</vt:lpstr>
      <vt:lpstr>PowerPoint Presentation</vt:lpstr>
      <vt:lpstr>Profil Perusahaan PT. Triputra Agro Persada, Tbk</vt:lpstr>
      <vt:lpstr>Profil Perusahaan PT. Triputra Agro Persada, Tbk</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Muhamad Hendriansyah</dc:creator>
  <cp:lastModifiedBy>Mitra</cp:lastModifiedBy>
  <cp:revision>40</cp:revision>
  <dcterms:created xsi:type="dcterms:W3CDTF">2025-01-08T02:32:20Z</dcterms:created>
  <dcterms:modified xsi:type="dcterms:W3CDTF">2026-04-08T09:45:24Z</dcterms:modified>
</cp:coreProperties>
</file>